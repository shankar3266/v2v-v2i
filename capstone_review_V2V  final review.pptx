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6"/>
  </p:notesMasterIdLst>
  <p:handoutMasterIdLst>
    <p:handoutMasterId r:id="rId27"/>
  </p:handoutMasterIdLst>
  <p:sldIdLst>
    <p:sldId id="531" r:id="rId2"/>
    <p:sldId id="289" r:id="rId3"/>
    <p:sldId id="292" r:id="rId4"/>
    <p:sldId id="535" r:id="rId5"/>
    <p:sldId id="534" r:id="rId6"/>
    <p:sldId id="294" r:id="rId7"/>
    <p:sldId id="298" r:id="rId8"/>
    <p:sldId id="546" r:id="rId9"/>
    <p:sldId id="532" r:id="rId10"/>
    <p:sldId id="302" r:id="rId11"/>
    <p:sldId id="537" r:id="rId12"/>
    <p:sldId id="538" r:id="rId13"/>
    <p:sldId id="539" r:id="rId14"/>
    <p:sldId id="540" r:id="rId15"/>
    <p:sldId id="541" r:id="rId16"/>
    <p:sldId id="542" r:id="rId17"/>
    <p:sldId id="543" r:id="rId18"/>
    <p:sldId id="544" r:id="rId19"/>
    <p:sldId id="305" r:id="rId20"/>
    <p:sldId id="533" r:id="rId21"/>
    <p:sldId id="548" r:id="rId22"/>
    <p:sldId id="549" r:id="rId23"/>
    <p:sldId id="550" r:id="rId24"/>
    <p:sldId id="301" r:id="rId25"/>
  </p:sldIdLst>
  <p:sldSz cx="12192000" cy="6858000"/>
  <p:notesSz cx="6858000" cy="9144000"/>
  <p:embeddedFontLst>
    <p:embeddedFont>
      <p:font typeface="Aharoni" panose="02010803020104030203" pitchFamily="2" charset="-79"/>
      <p:bold r:id="rId28"/>
    </p:embeddedFont>
    <p:embeddedFont>
      <p:font typeface="Montserrat" panose="00000500000000000000" pitchFamily="2" charset="0"/>
      <p:regular r:id="rId29"/>
      <p:bold r:id="rId30"/>
      <p:italic r:id="rId31"/>
      <p:boldItalic r:id="rId32"/>
    </p:embeddedFont>
    <p:embeddedFont>
      <p:font typeface="Montserrat Medium" panose="00000600000000000000" pitchFamily="2" charset="0"/>
      <p:regular r:id="rId33"/>
      <p:italic r:id="rId34"/>
    </p:embeddedFont>
    <p:embeddedFont>
      <p:font typeface="Open Sans" panose="020B0606030504020204" pitchFamily="34" charset="0"/>
      <p:regular r:id="rId35"/>
      <p:bold r:id="rId36"/>
      <p:italic r:id="rId37"/>
      <p:boldItalic r:id="rId38"/>
    </p:embeddedFont>
    <p:embeddedFont>
      <p:font typeface="Plus Jakarta Sans" panose="020B0604020202020204"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custDataLst>
    <p:tags r:id="rId5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94B2AB-DA99-4E37-804A-0D354AACC8B4}" v="4" dt="2025-11-20T04:37:56.018"/>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87" Type="http://customschemas.google.com/relationships/presentationmetadata" Target="metadata"/><Relationship Id="rId5" Type="http://schemas.openxmlformats.org/officeDocument/2006/relationships/slide" Target="slides/slide4.xml"/><Relationship Id="rId90"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tags" Target="tags/tag1.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10" Type="http://schemas.openxmlformats.org/officeDocument/2006/relationships/slide" Target="slides/slide9.xml"/><Relationship Id="rId31" Type="http://schemas.openxmlformats.org/officeDocument/2006/relationships/font" Target="fonts/font4.fntdata"/><Relationship Id="rId44" Type="http://schemas.openxmlformats.org/officeDocument/2006/relationships/font" Target="fonts/font1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28-11-2025</a:t>
            </a:fld>
            <a:endParaRPr lang="en-IN" dirty="0"/>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dirty="0"/>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dirty="0">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txBody>
          <a:bodyPr/>
          <a:lstStyle/>
          <a:p>
            <a:endParaRPr lang="en-IN"/>
          </a:p>
        </p:txBody>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dirty="0">
                <a:solidFill>
                  <a:srgbClr val="7F7F7F"/>
                </a:solidFill>
                <a:latin typeface="Open Sans"/>
                <a:ea typeface="Open Sans"/>
                <a:cs typeface="Open Sans"/>
                <a:sym typeface="Open Sans"/>
              </a:rPr>
              <a:t>Dept EECE, GST Bengaluru</a:t>
            </a:r>
            <a:endParaRPr sz="1800" b="0" i="0" u="none" strike="noStrike" cap="none" dirty="0">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dirty="0"/>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7409"/>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dirty="0">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dirty="0">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SOMANATH K        </a:t>
            </a:r>
            <a:endParaRPr lang="en-US" sz="1400" b="1" i="0" u="none" strike="noStrike" cap="none" dirty="0">
              <a:solidFill>
                <a:schemeClr val="dk1"/>
              </a:solidFill>
              <a:latin typeface="Montserrat Medium"/>
              <a:ea typeface="Arial"/>
              <a:cs typeface="Arial"/>
              <a:sym typeface="Montserrat Medium"/>
            </a:endParaRPr>
          </a:p>
          <a:p>
            <a:pPr marL="285750" indent="-285750">
              <a:buSzPts val="1400"/>
              <a:buFont typeface="Arial" panose="020B0604020202020204" pitchFamily="34" charset="0"/>
              <a:buChar char="•"/>
            </a:pPr>
            <a:r>
              <a:rPr lang="en-US" b="1" dirty="0">
                <a:solidFill>
                  <a:schemeClr val="dk1"/>
                </a:solidFill>
                <a:latin typeface="Montserrat Medium"/>
                <a:sym typeface="Montserrat Medium"/>
              </a:rPr>
              <a:t>C BHAVANI SHANKAR</a:t>
            </a:r>
            <a:endParaRPr lang="en-US" sz="1400" b="1" i="0" u="none" strike="noStrike" cap="none" dirty="0">
              <a:solidFill>
                <a:schemeClr val="dk1"/>
              </a:solidFill>
              <a:latin typeface="Arial"/>
              <a:ea typeface="Arial"/>
              <a:cs typeface="Arial"/>
              <a:sym typeface="Arial"/>
            </a:endParaRP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IN" sz="1400" b="1" i="0" u="none" strike="noStrike" cap="none" dirty="0">
                <a:solidFill>
                  <a:schemeClr val="dk1"/>
                </a:solidFill>
                <a:latin typeface="Arial"/>
                <a:ea typeface="Arial"/>
                <a:cs typeface="Arial"/>
                <a:sym typeface="Arial"/>
              </a:rPr>
              <a:t>SAITEJA K</a:t>
            </a: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lvl="0" indent="-285750" algn="ctr">
              <a:buSzPts val="1400"/>
              <a:buFont typeface="Arial" panose="020B0604020202020204" pitchFamily="34" charset="0"/>
              <a:buChar char="•"/>
            </a:pPr>
            <a:r>
              <a:rPr lang="en-IN" dirty="0"/>
              <a:t>Dr. T Nagarjuna</a:t>
            </a:r>
            <a:endParaRPr lang="en-US" sz="1400" b="1" i="0" u="none" strike="noStrike" cap="none" dirty="0">
              <a:solidFill>
                <a:schemeClr val="dk1"/>
              </a:solidFill>
              <a:latin typeface="Montserrat Medium"/>
              <a:ea typeface="Arial"/>
              <a:cs typeface="Arial"/>
              <a:sym typeface="Montserrat Medium"/>
            </a:endParaRP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indent="-285750" algn="ctr">
              <a:buSzPts val="1400"/>
              <a:buFont typeface="Arial" panose="020B0604020202020204" pitchFamily="34" charset="0"/>
              <a:buChar char="•"/>
            </a:pPr>
            <a:r>
              <a:rPr lang="en-US" dirty="0">
                <a:solidFill>
                  <a:schemeClr val="dk1"/>
                </a:solidFill>
                <a:latin typeface="Montserrat Medium"/>
                <a:sym typeface="Montserrat Medium"/>
              </a:rPr>
              <a:t>Dr. Kshitij Shakya </a:t>
            </a:r>
            <a:endParaRPr lang="en-US" dirty="0">
              <a:solidFill>
                <a:schemeClr val="dk1"/>
              </a:solidFill>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 </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1160207" y="230168"/>
            <a:ext cx="9173496" cy="1384954"/>
          </a:xfrm>
          <a:prstGeom prst="rect">
            <a:avLst/>
          </a:prstGeom>
          <a:noFill/>
          <a:ln>
            <a:noFill/>
          </a:ln>
        </p:spPr>
        <p:txBody>
          <a:bodyPr spcFirstLastPara="1" wrap="square" lIns="91425" tIns="45700" rIns="91425" bIns="45700" anchor="t" anchorCtr="0">
            <a:spAutoFit/>
          </a:bodyPr>
          <a:lstStyle/>
          <a:p>
            <a:pPr lvl="0" algn="ctr"/>
            <a:r>
              <a:rPr lang="en-US" sz="2800" b="1" dirty="0">
                <a:solidFill>
                  <a:srgbClr val="007069"/>
                </a:solidFill>
                <a:latin typeface="Open Sans"/>
                <a:ea typeface="Open Sans"/>
                <a:cs typeface="Open Sans"/>
                <a:sym typeface="Open Sans"/>
              </a:rPr>
              <a:t>Simulate vehicle-to-vehicle (V2V) and vehicle-to-infrastructure (V2I) using 5G communication and latency analysis.</a:t>
            </a:r>
            <a:endParaRPr lang="en-US" sz="2800"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10255338" y="115677"/>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Review-2</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550606" y="1453696"/>
            <a:ext cx="10921490" cy="1384995"/>
          </a:xfrm>
          <a:prstGeom prst="rect">
            <a:avLst/>
          </a:prstGeom>
          <a:noFill/>
        </p:spPr>
        <p:txBody>
          <a:bodyPr wrap="square" rtlCol="0">
            <a:spAutoFit/>
          </a:bodyPr>
          <a:lstStyle/>
          <a:p>
            <a:pPr marL="342900" indent="-342900">
              <a:buFont typeface="+mj-lt"/>
              <a:buAutoNum type="arabicPeriod"/>
            </a:pPr>
            <a:r>
              <a:rPr lang="en-US" dirty="0"/>
              <a:t>The main objective of this project is to simulate Vehicle-to-Vehicle (V2V) and Vehicle-to-Infrastructure (V2I) communication using 5G technology and to analyze the latency performance in different scenarios. </a:t>
            </a:r>
          </a:p>
          <a:p>
            <a:pPr marL="342900" indent="-342900">
              <a:buFont typeface="+mj-lt"/>
              <a:buAutoNum type="arabicPeriod"/>
            </a:pPr>
            <a:endParaRPr lang="en-US" dirty="0"/>
          </a:p>
          <a:p>
            <a:pPr marL="342900" indent="-342900">
              <a:buFont typeface="+mj-lt"/>
              <a:buAutoNum type="arabicPeriod"/>
            </a:pPr>
            <a:r>
              <a:rPr lang="en-US" dirty="0"/>
              <a:t>The project aims to study how 5G enables reliable, high-speed, and ultra-low latency communication, which is essential for safety-critical applications such as collision avoidance, traffic management, and autonomous driving. </a:t>
            </a:r>
          </a:p>
          <a:p>
            <a:endParaRPr lang="en-US" dirty="0"/>
          </a:p>
        </p:txBody>
      </p:sp>
      <p:sp>
        <p:nvSpPr>
          <p:cNvPr id="34" name="TextBox 33">
            <a:extLst>
              <a:ext uri="{FF2B5EF4-FFF2-40B4-BE49-F238E27FC236}">
                <a16:creationId xmlns:a16="http://schemas.microsoft.com/office/drawing/2014/main" id="{4A9AEFFB-1A20-899A-F8E0-29DEDB267EF4}"/>
              </a:ext>
            </a:extLst>
          </p:cNvPr>
          <p:cNvSpPr txBox="1"/>
          <p:nvPr/>
        </p:nvSpPr>
        <p:spPr>
          <a:xfrm>
            <a:off x="906787" y="3973285"/>
            <a:ext cx="9576021" cy="954107"/>
          </a:xfrm>
          <a:prstGeom prst="rect">
            <a:avLst/>
          </a:prstGeom>
          <a:noFill/>
        </p:spPr>
        <p:txBody>
          <a:bodyPr wrap="square" rtlCol="0">
            <a:spAutoFit/>
          </a:bodyPr>
          <a:lstStyle/>
          <a:p>
            <a:r>
              <a:rPr lang="en-IN" dirty="0">
                <a:latin typeface="Verdana" panose="020B0604030504040204" pitchFamily="34" charset="0"/>
                <a:ea typeface="Verdana" panose="020B0604030504040204" pitchFamily="34" charset="0"/>
              </a:rPr>
              <a:t>Main Goals </a:t>
            </a:r>
          </a:p>
          <a:p>
            <a:pPr marL="285750" indent="-285750">
              <a:buFont typeface="Arial" panose="020B0604020202020204" pitchFamily="34" charset="0"/>
              <a:buChar char="•"/>
            </a:pPr>
            <a:r>
              <a:rPr lang="en-US" dirty="0"/>
              <a:t>Analyze latency in different traffic conditions.</a:t>
            </a:r>
          </a:p>
          <a:p>
            <a:pPr marL="285750" indent="-285750">
              <a:buFont typeface="Arial" panose="020B0604020202020204" pitchFamily="34" charset="0"/>
              <a:buChar char="•"/>
            </a:pPr>
            <a:r>
              <a:rPr lang="en-US" dirty="0"/>
              <a:t>Demonstrate real-time data exchange for safety using MATLAB simulation</a:t>
            </a: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432619" y="1131631"/>
            <a:ext cx="11326761" cy="5553745"/>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dirty="0">
                <a:latin typeface="Verdana" panose="020B0604030504040204" pitchFamily="34" charset="0"/>
                <a:ea typeface="Verdana" panose="020B0604030504040204" pitchFamily="34" charset="0"/>
              </a:rPr>
              <a:t>                                            Gant Chart  - Milestones and Activities </a:t>
            </a:r>
          </a:p>
          <a:p>
            <a:pPr lvl="0"/>
            <a:r>
              <a:rPr lang="en-IN" sz="1600" b="1" dirty="0">
                <a:latin typeface="Verdana" panose="020B0604030504040204" pitchFamily="34" charset="0"/>
                <a:ea typeface="Verdana" panose="020B0604030504040204" pitchFamily="34" charset="0"/>
              </a:rPr>
              <a:t>high-level phases(ordered):</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1. Project setup &amp; scenario definition</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2.Vehicle model initialization &amp; mobility simulation</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3.5G communication system configuration (baseline)</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4.Baseline V2V message exchange (conventional RF)</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5.5G-enabled V2V simulation</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6.Sensor fusion and radar integration</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7.Evaluation &amp; results analysis</a:t>
            </a:r>
          </a:p>
          <a:p>
            <a:pPr lvl="0"/>
            <a:endParaRPr lang="en-IN" sz="1600" dirty="0">
              <a:latin typeface="Verdana" panose="020B0604030504040204" pitchFamily="34" charset="0"/>
              <a:ea typeface="Verdana" panose="020B0604030504040204" pitchFamily="34" charset="0"/>
            </a:endParaRPr>
          </a:p>
          <a:p>
            <a:pPr lvl="0"/>
            <a:r>
              <a:rPr lang="en-IN" sz="1600" dirty="0">
                <a:latin typeface="Verdana" panose="020B0604030504040204" pitchFamily="34" charset="0"/>
                <a:ea typeface="Verdana" panose="020B0604030504040204" pitchFamily="34" charset="0"/>
              </a:rPr>
              <a:t>8.Final deliverables, documentation &amp; demo</a:t>
            </a: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 (Clearly mention milestone for objectives under each reviews)</a:t>
            </a:r>
            <a:endParaRPr dirty="0"/>
          </a:p>
        </p:txBody>
      </p:sp>
      <p:pic>
        <p:nvPicPr>
          <p:cNvPr id="10" name="Picture 9">
            <a:extLst>
              <a:ext uri="{FF2B5EF4-FFF2-40B4-BE49-F238E27FC236}">
                <a16:creationId xmlns:a16="http://schemas.microsoft.com/office/drawing/2014/main" id="{0E7127D9-EBB4-F5D2-6A25-BD9E0F92147D}"/>
              </a:ext>
            </a:extLst>
          </p:cNvPr>
          <p:cNvPicPr>
            <a:picLocks noChangeAspect="1"/>
          </p:cNvPicPr>
          <p:nvPr/>
        </p:nvPicPr>
        <p:blipFill>
          <a:blip r:embed="rId3"/>
          <a:stretch>
            <a:fillRect/>
          </a:stretch>
        </p:blipFill>
        <p:spPr>
          <a:xfrm>
            <a:off x="432618" y="1062805"/>
            <a:ext cx="11218607" cy="5120445"/>
          </a:xfrm>
          <a:prstGeom prst="rect">
            <a:avLst/>
          </a:prstGeom>
        </p:spPr>
      </p:pic>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0DB182-1FF0-47F3-9BA8-EC86BC5515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TextBox 3">
            <a:extLst>
              <a:ext uri="{FF2B5EF4-FFF2-40B4-BE49-F238E27FC236}">
                <a16:creationId xmlns:a16="http://schemas.microsoft.com/office/drawing/2014/main" id="{A7F6B462-11CD-30AF-A3F7-0D77883DED4F}"/>
              </a:ext>
            </a:extLst>
          </p:cNvPr>
          <p:cNvSpPr txBox="1"/>
          <p:nvPr/>
        </p:nvSpPr>
        <p:spPr>
          <a:xfrm>
            <a:off x="4218038" y="373626"/>
            <a:ext cx="2581156" cy="461665"/>
          </a:xfrm>
          <a:prstGeom prst="rect">
            <a:avLst/>
          </a:prstGeom>
          <a:noFill/>
        </p:spPr>
        <p:txBody>
          <a:bodyPr wrap="none" rtlCol="0">
            <a:spAutoFit/>
          </a:bodyPr>
          <a:lstStyle/>
          <a:p>
            <a:r>
              <a:rPr lang="en-IN" sz="2400" b="1" dirty="0"/>
              <a:t>literature survey</a:t>
            </a:r>
          </a:p>
        </p:txBody>
      </p:sp>
      <p:graphicFrame>
        <p:nvGraphicFramePr>
          <p:cNvPr id="5" name="Table 4">
            <a:extLst>
              <a:ext uri="{FF2B5EF4-FFF2-40B4-BE49-F238E27FC236}">
                <a16:creationId xmlns:a16="http://schemas.microsoft.com/office/drawing/2014/main" id="{75B05E21-D102-A2CF-86EA-608976A32CE0}"/>
              </a:ext>
            </a:extLst>
          </p:cNvPr>
          <p:cNvGraphicFramePr>
            <a:graphicFrameLocks noGrp="1"/>
          </p:cNvGraphicFramePr>
          <p:nvPr>
            <p:extLst>
              <p:ext uri="{D42A27DB-BD31-4B8C-83A1-F6EECF244321}">
                <p14:modId xmlns:p14="http://schemas.microsoft.com/office/powerpoint/2010/main" val="110998888"/>
              </p:ext>
            </p:extLst>
          </p:nvPr>
        </p:nvGraphicFramePr>
        <p:xfrm>
          <a:off x="934065" y="1112957"/>
          <a:ext cx="9743766" cy="4367145"/>
        </p:xfrm>
        <a:graphic>
          <a:graphicData uri="http://schemas.openxmlformats.org/drawingml/2006/table">
            <a:tbl>
              <a:tblPr firstRow="1" bandRow="1">
                <a:tableStyleId>{DE7AD339-51BE-4A38-A1C7-CCF28897F289}</a:tableStyleId>
              </a:tblPr>
              <a:tblGrid>
                <a:gridCol w="2915273">
                  <a:extLst>
                    <a:ext uri="{9D8B030D-6E8A-4147-A177-3AD203B41FA5}">
                      <a16:colId xmlns:a16="http://schemas.microsoft.com/office/drawing/2014/main" val="1776669574"/>
                    </a:ext>
                  </a:extLst>
                </a:gridCol>
                <a:gridCol w="3580571">
                  <a:extLst>
                    <a:ext uri="{9D8B030D-6E8A-4147-A177-3AD203B41FA5}">
                      <a16:colId xmlns:a16="http://schemas.microsoft.com/office/drawing/2014/main" val="3439293188"/>
                    </a:ext>
                  </a:extLst>
                </a:gridCol>
                <a:gridCol w="3247922">
                  <a:extLst>
                    <a:ext uri="{9D8B030D-6E8A-4147-A177-3AD203B41FA5}">
                      <a16:colId xmlns:a16="http://schemas.microsoft.com/office/drawing/2014/main" val="1437414499"/>
                    </a:ext>
                  </a:extLst>
                </a:gridCol>
              </a:tblGrid>
              <a:tr h="343785">
                <a:tc>
                  <a:txBody>
                    <a:bodyPr/>
                    <a:lstStyle/>
                    <a:p>
                      <a:r>
                        <a:rPr lang="en-IN" dirty="0"/>
                        <a:t>Author details</a:t>
                      </a:r>
                    </a:p>
                  </a:txBody>
                  <a:tcPr/>
                </a:tc>
                <a:tc>
                  <a:txBody>
                    <a:bodyPr/>
                    <a:lstStyle/>
                    <a:p>
                      <a:r>
                        <a:rPr lang="en-IN" dirty="0"/>
                        <a:t>Research contribution</a:t>
                      </a:r>
                    </a:p>
                  </a:txBody>
                  <a:tcPr/>
                </a:tc>
                <a:tc>
                  <a:txBody>
                    <a:bodyPr/>
                    <a:lstStyle/>
                    <a:p>
                      <a:r>
                        <a:rPr lang="en-IN" dirty="0"/>
                        <a:t>Research Limitations</a:t>
                      </a:r>
                    </a:p>
                  </a:txBody>
                  <a:tcPr/>
                </a:tc>
                <a:extLst>
                  <a:ext uri="{0D108BD9-81ED-4DB2-BD59-A6C34878D82A}">
                    <a16:rowId xmlns:a16="http://schemas.microsoft.com/office/drawing/2014/main" val="325913041"/>
                  </a:ext>
                </a:extLst>
              </a:tr>
              <a:tr h="2430508">
                <a:tc>
                  <a:txBody>
                    <a:bodyPr/>
                    <a:lstStyle/>
                    <a:p>
                      <a:r>
                        <a:rPr lang="en-IN" dirty="0"/>
                        <a:t>Tahir, Muhammad Naeem, Pekka </a:t>
                      </a:r>
                      <a:r>
                        <a:rPr lang="en-IN" dirty="0" err="1"/>
                        <a:t>Leviäkangas</a:t>
                      </a:r>
                      <a:r>
                        <a:rPr lang="en-IN" dirty="0"/>
                        <a:t>, and Marcos Katz. "Connected vehicles: V2V and V2I road weather and traffic communication using cellular technologies." Sensors 22.3 (2022): 1142.</a:t>
                      </a:r>
                    </a:p>
                  </a:txBody>
                  <a:tcPr/>
                </a:tc>
                <a:tc>
                  <a:txBody>
                    <a:bodyPr/>
                    <a:lstStyle/>
                    <a:p>
                      <a:pPr marL="285750" indent="-285750">
                        <a:buFont typeface="Arial" panose="020B0604020202020204" pitchFamily="34" charset="0"/>
                        <a:buChar char="•"/>
                      </a:pPr>
                      <a:r>
                        <a:rPr lang="en-US" dirty="0"/>
                        <a:t>The study provides pilot field measurement results comparing LTE and 5G Test Network (5GTN) performance for vehicle-to-vehicle (V2V) and vehicle-to-infrastructure (V2I) communication.</a:t>
                      </a:r>
                    </a:p>
                    <a:p>
                      <a:pPr marL="285750" indent="-285750">
                        <a:buFont typeface="Arial" panose="020B0604020202020204" pitchFamily="34" charset="0"/>
                        <a:buChar char="•"/>
                      </a:pPr>
                      <a:r>
                        <a:rPr lang="en-US" dirty="0"/>
                        <a:t>It shows that 5GTN significantly outperforms LTE in terms of bandwidth, throughput, packet loss, and latency while transmitting safety-critical road weather and traffic data.</a:t>
                      </a:r>
                      <a:endParaRPr lang="en-IN" dirty="0"/>
                    </a:p>
                  </a:txBody>
                  <a:tcPr/>
                </a:tc>
                <a:tc>
                  <a:txBody>
                    <a:bodyPr/>
                    <a:lstStyle/>
                    <a:p>
                      <a:r>
                        <a:rPr lang="en-US" dirty="0"/>
                        <a:t>The field measurements were conducted only on a single test track at the Finnish Meteorological Institute (FMI). This limited the diversity of road conditions, traffic density, and real-world variability, which may affect the generalizability of the results.</a:t>
                      </a:r>
                      <a:endParaRPr lang="en-IN" dirty="0"/>
                    </a:p>
                  </a:txBody>
                  <a:tcPr/>
                </a:tc>
                <a:extLst>
                  <a:ext uri="{0D108BD9-81ED-4DB2-BD59-A6C34878D82A}">
                    <a16:rowId xmlns:a16="http://schemas.microsoft.com/office/drawing/2014/main" val="852057086"/>
                  </a:ext>
                </a:extLst>
              </a:tr>
              <a:tr h="1579830">
                <a:tc>
                  <a:txBody>
                    <a:bodyPr/>
                    <a:lstStyle/>
                    <a:p>
                      <a:r>
                        <a:rPr lang="en-US" dirty="0"/>
                        <a:t>Muhammad, Mujahid, and Ghazanfar Ali Safdar. "5G-based V2V broadcast communications: A security perspective." Array 11 (2021): 100084.</a:t>
                      </a:r>
                      <a:endParaRPr lang="en-IN" dirty="0"/>
                    </a:p>
                  </a:txBody>
                  <a:tcPr/>
                </a:tc>
                <a:tc>
                  <a:txBody>
                    <a:bodyPr/>
                    <a:lstStyle/>
                    <a:p>
                      <a:r>
                        <a:rPr lang="en-US" b="1" dirty="0"/>
                        <a:t>Comprehensive Review of 5G-V2V Security Needs</a:t>
                      </a:r>
                      <a:r>
                        <a:rPr lang="en-US" dirty="0"/>
                        <a:t>: The paper analyzes how 3GPP 5G-V2V (PC5 interface) can support safety and non-safety applications, emphasizing the importance of low-latency and trustworthy message exchange in road hazard communication.</a:t>
                      </a:r>
                      <a:endParaRPr lang="en-IN" dirty="0"/>
                    </a:p>
                  </a:txBody>
                  <a:tcPr/>
                </a:tc>
                <a:tc>
                  <a:txBody>
                    <a:bodyPr/>
                    <a:lstStyle/>
                    <a:p>
                      <a:r>
                        <a:rPr lang="en-US" dirty="0"/>
                        <a:t>The work mainly provides a conceptual and literature-based review. No field tests or simulations are presented to measure the practical impact of proposed access-layer security solutions on latency, throughput, or reliability.</a:t>
                      </a:r>
                      <a:endParaRPr lang="en-IN" dirty="0"/>
                    </a:p>
                  </a:txBody>
                  <a:tcPr/>
                </a:tc>
                <a:extLst>
                  <a:ext uri="{0D108BD9-81ED-4DB2-BD59-A6C34878D82A}">
                    <a16:rowId xmlns:a16="http://schemas.microsoft.com/office/drawing/2014/main" val="2029645912"/>
                  </a:ext>
                </a:extLst>
              </a:tr>
            </a:tbl>
          </a:graphicData>
        </a:graphic>
      </p:graphicFrame>
    </p:spTree>
    <p:extLst>
      <p:ext uri="{BB962C8B-B14F-4D97-AF65-F5344CB8AC3E}">
        <p14:creationId xmlns:p14="http://schemas.microsoft.com/office/powerpoint/2010/main" val="370403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584C6C-8D70-B3A6-B51A-79AAF43E98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414337" y="263746"/>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dirty="0"/>
          </a:p>
        </p:txBody>
      </p:sp>
      <p:sp>
        <p:nvSpPr>
          <p:cNvPr id="5" name="TextBox 4">
            <a:extLst>
              <a:ext uri="{FF2B5EF4-FFF2-40B4-BE49-F238E27FC236}">
                <a16:creationId xmlns:a16="http://schemas.microsoft.com/office/drawing/2014/main" id="{90BDBC16-59AC-8C3D-456D-17ED618A0BE5}"/>
              </a:ext>
            </a:extLst>
          </p:cNvPr>
          <p:cNvSpPr txBox="1"/>
          <p:nvPr/>
        </p:nvSpPr>
        <p:spPr>
          <a:xfrm>
            <a:off x="835742" y="1021349"/>
            <a:ext cx="1912703" cy="523220"/>
          </a:xfrm>
          <a:prstGeom prst="rect">
            <a:avLst/>
          </a:prstGeom>
          <a:noFill/>
        </p:spPr>
        <p:txBody>
          <a:bodyPr wrap="none" rtlCol="0">
            <a:spAutoFit/>
          </a:bodyPr>
          <a:lstStyle/>
          <a:p>
            <a:r>
              <a:rPr lang="en-IN" b="1" dirty="0">
                <a:latin typeface="Verdana" panose="020B0604030504040204" pitchFamily="34" charset="0"/>
                <a:ea typeface="Verdana" panose="020B0604030504040204" pitchFamily="34" charset="0"/>
              </a:rPr>
              <a:t>Key Publications </a:t>
            </a:r>
          </a:p>
          <a:p>
            <a:endParaRPr lang="en-IN" dirty="0"/>
          </a:p>
        </p:txBody>
      </p:sp>
      <p:graphicFrame>
        <p:nvGraphicFramePr>
          <p:cNvPr id="7" name="Table 6">
            <a:extLst>
              <a:ext uri="{FF2B5EF4-FFF2-40B4-BE49-F238E27FC236}">
                <a16:creationId xmlns:a16="http://schemas.microsoft.com/office/drawing/2014/main" id="{74EA8288-BA9B-7664-5FF1-1CFD0327A98E}"/>
              </a:ext>
            </a:extLst>
          </p:cNvPr>
          <p:cNvGraphicFramePr>
            <a:graphicFrameLocks noGrp="1"/>
          </p:cNvGraphicFramePr>
          <p:nvPr>
            <p:extLst>
              <p:ext uri="{D42A27DB-BD31-4B8C-83A1-F6EECF244321}">
                <p14:modId xmlns:p14="http://schemas.microsoft.com/office/powerpoint/2010/main" val="4292287309"/>
              </p:ext>
            </p:extLst>
          </p:nvPr>
        </p:nvGraphicFramePr>
        <p:xfrm>
          <a:off x="1442064" y="1697054"/>
          <a:ext cx="8128000" cy="3779520"/>
        </p:xfrm>
        <a:graphic>
          <a:graphicData uri="http://schemas.openxmlformats.org/drawingml/2006/table">
            <a:tbl>
              <a:tblPr firstRow="1" bandRow="1">
                <a:tableStyleId>{DE7AD339-51BE-4A38-A1C7-CCF28897F289}</a:tableStyleId>
              </a:tblPr>
              <a:tblGrid>
                <a:gridCol w="4064000">
                  <a:extLst>
                    <a:ext uri="{9D8B030D-6E8A-4147-A177-3AD203B41FA5}">
                      <a16:colId xmlns:a16="http://schemas.microsoft.com/office/drawing/2014/main" val="3096085398"/>
                    </a:ext>
                  </a:extLst>
                </a:gridCol>
                <a:gridCol w="4064000">
                  <a:extLst>
                    <a:ext uri="{9D8B030D-6E8A-4147-A177-3AD203B41FA5}">
                      <a16:colId xmlns:a16="http://schemas.microsoft.com/office/drawing/2014/main" val="3784138134"/>
                    </a:ext>
                  </a:extLst>
                </a:gridCol>
              </a:tblGrid>
              <a:tr h="370840">
                <a:tc>
                  <a:txBody>
                    <a:bodyPr/>
                    <a:lstStyle/>
                    <a:p>
                      <a:r>
                        <a:rPr lang="en-US" dirty="0"/>
                        <a:t>5G Vehicular Networks: A Survey</a:t>
                      </a:r>
                      <a:endParaRPr lang="en-IN" dirty="0"/>
                    </a:p>
                  </a:txBody>
                  <a:tcPr/>
                </a:tc>
                <a:tc>
                  <a:txBody>
                    <a:bodyPr/>
                    <a:lstStyle/>
                    <a:p>
                      <a:r>
                        <a:rPr lang="en-US" dirty="0"/>
                        <a:t>Provides a comprehensive overview of 5G-enabled vehicular communication, including V2V and V2I use cases, network architecture, and performance metrics like latency, reliability, and throughput.</a:t>
                      </a:r>
                      <a:endParaRPr lang="en-IN" dirty="0"/>
                    </a:p>
                  </a:txBody>
                  <a:tcPr/>
                </a:tc>
                <a:extLst>
                  <a:ext uri="{0D108BD9-81ED-4DB2-BD59-A6C34878D82A}">
                    <a16:rowId xmlns:a16="http://schemas.microsoft.com/office/drawing/2014/main" val="2366817072"/>
                  </a:ext>
                </a:extLst>
              </a:tr>
              <a:tr h="370840">
                <a:tc>
                  <a:txBody>
                    <a:bodyPr/>
                    <a:lstStyle/>
                    <a:p>
                      <a:r>
                        <a:rPr lang="en-US" dirty="0"/>
                        <a:t>Latency Analysis of 5G-Based V2V and V2I Communication</a:t>
                      </a:r>
                      <a:endParaRPr lang="en-IN" dirty="0"/>
                    </a:p>
                  </a:txBody>
                  <a:tcPr/>
                </a:tc>
                <a:tc>
                  <a:txBody>
                    <a:bodyPr/>
                    <a:lstStyle/>
                    <a:p>
                      <a:r>
                        <a:rPr lang="en-US" dirty="0"/>
                        <a:t>Focuses on latency performance evaluation in vehicular scenarios, presenting simulation and analytical models to study end-to-end delays.</a:t>
                      </a:r>
                      <a:endParaRPr lang="en-IN" dirty="0"/>
                    </a:p>
                  </a:txBody>
                  <a:tcPr/>
                </a:tc>
                <a:extLst>
                  <a:ext uri="{0D108BD9-81ED-4DB2-BD59-A6C34878D82A}">
                    <a16:rowId xmlns:a16="http://schemas.microsoft.com/office/drawing/2014/main" val="1546183621"/>
                  </a:ext>
                </a:extLst>
              </a:tr>
              <a:tr h="370840">
                <a:tc>
                  <a:txBody>
                    <a:bodyPr/>
                    <a:lstStyle/>
                    <a:p>
                      <a:r>
                        <a:rPr lang="en-IN" dirty="0"/>
                        <a:t>5G Technologies for Intelligent Transportation Systems</a:t>
                      </a:r>
                    </a:p>
                  </a:txBody>
                  <a:tcPr/>
                </a:tc>
                <a:tc>
                  <a:txBody>
                    <a:bodyPr/>
                    <a:lstStyle/>
                    <a:p>
                      <a:r>
                        <a:rPr lang="en-US" dirty="0"/>
                        <a:t>Reviews the role of 5G in ITS, highlighting its advantages for traffic management, autonomous vehicles, and enhanced safety through low-latency communication.</a:t>
                      </a:r>
                      <a:endParaRPr lang="en-IN" dirty="0"/>
                    </a:p>
                  </a:txBody>
                  <a:tcPr/>
                </a:tc>
                <a:extLst>
                  <a:ext uri="{0D108BD9-81ED-4DB2-BD59-A6C34878D82A}">
                    <a16:rowId xmlns:a16="http://schemas.microsoft.com/office/drawing/2014/main" val="1808025248"/>
                  </a:ext>
                </a:extLst>
              </a:tr>
              <a:tr h="370840">
                <a:tc>
                  <a:txBody>
                    <a:bodyPr/>
                    <a:lstStyle/>
                    <a:p>
                      <a:r>
                        <a:rPr lang="en-US" dirty="0"/>
                        <a:t>Simulation of 5G Communication in Vehicular Networks</a:t>
                      </a:r>
                      <a:endParaRPr lang="en-IN" dirty="0"/>
                    </a:p>
                  </a:txBody>
                  <a:tcPr/>
                </a:tc>
                <a:tc>
                  <a:txBody>
                    <a:bodyPr/>
                    <a:lstStyle/>
                    <a:p>
                      <a:r>
                        <a:rPr lang="en-US" dirty="0"/>
                        <a:t>Explores MATLAB-based simulation of 5G-enabled V2V and V2I communication, analyzing latency and throughput under different mobility and channel conditions.</a:t>
                      </a:r>
                      <a:endParaRPr lang="en-IN" dirty="0"/>
                    </a:p>
                  </a:txBody>
                  <a:tcPr/>
                </a:tc>
                <a:extLst>
                  <a:ext uri="{0D108BD9-81ED-4DB2-BD59-A6C34878D82A}">
                    <a16:rowId xmlns:a16="http://schemas.microsoft.com/office/drawing/2014/main" val="672049685"/>
                  </a:ext>
                </a:extLst>
              </a:tr>
            </a:tbl>
          </a:graphicData>
        </a:graphic>
      </p:graphicFrame>
    </p:spTree>
    <p:extLst>
      <p:ext uri="{BB962C8B-B14F-4D97-AF65-F5344CB8AC3E}">
        <p14:creationId xmlns:p14="http://schemas.microsoft.com/office/powerpoint/2010/main" val="428430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198850" y="1010429"/>
            <a:ext cx="11431174" cy="6100397"/>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Verdana" panose="020B0604030504040204" pitchFamily="34" charset="0"/>
                <a:ea typeface="Verdana" panose="020B0604030504040204" pitchFamily="34" charset="0"/>
              </a:rPr>
              <a:t>Key Publications </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Key Resources – Whitepaper| Application Notes |  Datasheet| Others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b="1" dirty="0"/>
              <a:t>MathWorks Whitepaper on 5G Toolbox:</a:t>
            </a:r>
            <a:r>
              <a:rPr lang="en-US" dirty="0"/>
              <a:t> Explains how MATLAB can simulate 5G NR systems, including URLLC for V2X applications.</a:t>
            </a:r>
          </a:p>
          <a:p>
            <a:pPr marL="285750" lvl="0" indent="-285750">
              <a:buFont typeface="Arial" panose="020B0604020202020204" pitchFamily="34" charset="0"/>
              <a:buChar char="•"/>
            </a:pPr>
            <a:r>
              <a:rPr lang="en-US" b="1" dirty="0"/>
              <a:t>Qualcomm 5G Latency Analysis Whitepaper:</a:t>
            </a:r>
            <a:r>
              <a:rPr lang="en-US" dirty="0"/>
              <a:t> Provides insights into low-latency communication for vehicular safety systems.</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Existing Implementations – Products| Opensource| GitHub etc </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r>
              <a:rPr lang="en-US" b="1" dirty="0"/>
              <a:t>MATLAB 5G Toolbox</a:t>
            </a:r>
            <a:r>
              <a:rPr lang="en-US" dirty="0"/>
              <a:t> – For designing and simulating 5G NR V2V and V2I communication.</a:t>
            </a:r>
            <a:r>
              <a:rPr lang="en-IN" dirty="0">
                <a:latin typeface="Verdana" panose="020B0604030504040204" pitchFamily="34" charset="0"/>
                <a:ea typeface="Verdana" panose="020B0604030504040204" pitchFamily="34" charset="0"/>
              </a:rPr>
              <a:t> </a:t>
            </a:r>
          </a:p>
        </p:txBody>
      </p:sp>
      <p:graphicFrame>
        <p:nvGraphicFramePr>
          <p:cNvPr id="4" name="Table 3">
            <a:extLst>
              <a:ext uri="{FF2B5EF4-FFF2-40B4-BE49-F238E27FC236}">
                <a16:creationId xmlns:a16="http://schemas.microsoft.com/office/drawing/2014/main" id="{7A1A538D-8973-E17D-EE96-3241747D64FE}"/>
              </a:ext>
            </a:extLst>
          </p:cNvPr>
          <p:cNvGraphicFramePr>
            <a:graphicFrameLocks noGrp="1"/>
          </p:cNvGraphicFramePr>
          <p:nvPr>
            <p:extLst>
              <p:ext uri="{D42A27DB-BD31-4B8C-83A1-F6EECF244321}">
                <p14:modId xmlns:p14="http://schemas.microsoft.com/office/powerpoint/2010/main" val="2825223154"/>
              </p:ext>
            </p:extLst>
          </p:nvPr>
        </p:nvGraphicFramePr>
        <p:xfrm>
          <a:off x="198850" y="3429000"/>
          <a:ext cx="10515600" cy="304800"/>
        </p:xfrm>
        <a:graphic>
          <a:graphicData uri="http://schemas.openxmlformats.org/drawingml/2006/table">
            <a:tbl>
              <a:tblPr/>
              <a:tblGrid>
                <a:gridCol w="10515600">
                  <a:extLst>
                    <a:ext uri="{9D8B030D-6E8A-4147-A177-3AD203B41FA5}">
                      <a16:colId xmlns:a16="http://schemas.microsoft.com/office/drawing/2014/main" val="2243557044"/>
                    </a:ext>
                  </a:extLst>
                </a:gridCol>
              </a:tblGrid>
              <a:tr h="0">
                <a:tc>
                  <a:txBody>
                    <a:bodyPr/>
                    <a:lstStyle/>
                    <a:p>
                      <a:pPr>
                        <a:buNone/>
                      </a:pPr>
                      <a:r>
                        <a:rPr lang="en-IN" b="1" dirty="0"/>
                        <a:t>   </a:t>
                      </a:r>
                      <a:r>
                        <a:rPr lang="en-IN" sz="1400" b="1" dirty="0"/>
                        <a:t>Communications Toolbox-</a:t>
                      </a:r>
                      <a:endParaRPr lang="en-IN" sz="1400" dirty="0"/>
                    </a:p>
                  </a:txBody>
                  <a:tcPr anchor="ctr">
                    <a:lnL>
                      <a:noFill/>
                    </a:lnL>
                    <a:lnR>
                      <a:noFill/>
                    </a:lnR>
                    <a:lnT>
                      <a:noFill/>
                    </a:lnT>
                    <a:lnB>
                      <a:noFill/>
                    </a:lnB>
                    <a:noFill/>
                  </a:tcPr>
                </a:tc>
                <a:extLst>
                  <a:ext uri="{0D108BD9-81ED-4DB2-BD59-A6C34878D82A}">
                    <a16:rowId xmlns:a16="http://schemas.microsoft.com/office/drawing/2014/main" val="2859875460"/>
                  </a:ext>
                </a:extLst>
              </a:tr>
            </a:tbl>
          </a:graphicData>
        </a:graphic>
      </p:graphicFrame>
      <p:graphicFrame>
        <p:nvGraphicFramePr>
          <p:cNvPr id="6" name="Table 5">
            <a:extLst>
              <a:ext uri="{FF2B5EF4-FFF2-40B4-BE49-F238E27FC236}">
                <a16:creationId xmlns:a16="http://schemas.microsoft.com/office/drawing/2014/main" id="{D32F660A-6BB0-CFCB-B579-51816507CF5C}"/>
              </a:ext>
            </a:extLst>
          </p:cNvPr>
          <p:cNvGraphicFramePr>
            <a:graphicFrameLocks noGrp="1"/>
          </p:cNvGraphicFramePr>
          <p:nvPr>
            <p:extLst>
              <p:ext uri="{D42A27DB-BD31-4B8C-83A1-F6EECF244321}">
                <p14:modId xmlns:p14="http://schemas.microsoft.com/office/powerpoint/2010/main" val="2844892857"/>
              </p:ext>
            </p:extLst>
          </p:nvPr>
        </p:nvGraphicFramePr>
        <p:xfrm>
          <a:off x="2826026" y="3429000"/>
          <a:ext cx="10515600" cy="304800"/>
        </p:xfrm>
        <a:graphic>
          <a:graphicData uri="http://schemas.openxmlformats.org/drawingml/2006/table">
            <a:tbl>
              <a:tblPr/>
              <a:tblGrid>
                <a:gridCol w="10515600">
                  <a:extLst>
                    <a:ext uri="{9D8B030D-6E8A-4147-A177-3AD203B41FA5}">
                      <a16:colId xmlns:a16="http://schemas.microsoft.com/office/drawing/2014/main" val="1973467472"/>
                    </a:ext>
                  </a:extLst>
                </a:gridCol>
              </a:tblGrid>
              <a:tr h="0">
                <a:tc>
                  <a:txBody>
                    <a:bodyPr/>
                    <a:lstStyle/>
                    <a:p>
                      <a:pPr>
                        <a:buNone/>
                      </a:pPr>
                      <a:r>
                        <a:rPr lang="en-IN" dirty="0"/>
                        <a:t>V2V wireless simulation, pathloss, SINR, PER, HARQ </a:t>
                      </a:r>
                      <a:r>
                        <a:rPr lang="en-IN" dirty="0" err="1"/>
                        <a:t>modeling</a:t>
                      </a:r>
                      <a:endParaRPr lang="en-IN" dirty="0"/>
                    </a:p>
                  </a:txBody>
                  <a:tcPr anchor="ctr">
                    <a:lnL>
                      <a:noFill/>
                    </a:lnL>
                    <a:lnR>
                      <a:noFill/>
                    </a:lnR>
                    <a:lnT>
                      <a:noFill/>
                    </a:lnT>
                    <a:lnB>
                      <a:noFill/>
                    </a:lnB>
                    <a:noFill/>
                  </a:tcPr>
                </a:tc>
                <a:extLst>
                  <a:ext uri="{0D108BD9-81ED-4DB2-BD59-A6C34878D82A}">
                    <a16:rowId xmlns:a16="http://schemas.microsoft.com/office/drawing/2014/main" val="39157894"/>
                  </a:ext>
                </a:extLst>
              </a:tr>
            </a:tbl>
          </a:graphicData>
        </a:graphic>
      </p:graphicFrame>
      <p:graphicFrame>
        <p:nvGraphicFramePr>
          <p:cNvPr id="8" name="Table 7">
            <a:extLst>
              <a:ext uri="{FF2B5EF4-FFF2-40B4-BE49-F238E27FC236}">
                <a16:creationId xmlns:a16="http://schemas.microsoft.com/office/drawing/2014/main" id="{883AEF47-344D-6D37-DD38-ECF03BF3A0C1}"/>
              </a:ext>
            </a:extLst>
          </p:cNvPr>
          <p:cNvGraphicFramePr>
            <a:graphicFrameLocks noGrp="1"/>
          </p:cNvGraphicFramePr>
          <p:nvPr>
            <p:extLst>
              <p:ext uri="{D42A27DB-BD31-4B8C-83A1-F6EECF244321}">
                <p14:modId xmlns:p14="http://schemas.microsoft.com/office/powerpoint/2010/main" val="71986858"/>
              </p:ext>
            </p:extLst>
          </p:nvPr>
        </p:nvGraphicFramePr>
        <p:xfrm>
          <a:off x="304799" y="3951185"/>
          <a:ext cx="10515600" cy="304800"/>
        </p:xfrm>
        <a:graphic>
          <a:graphicData uri="http://schemas.openxmlformats.org/drawingml/2006/table">
            <a:tbl>
              <a:tblPr/>
              <a:tblGrid>
                <a:gridCol w="10515600">
                  <a:extLst>
                    <a:ext uri="{9D8B030D-6E8A-4147-A177-3AD203B41FA5}">
                      <a16:colId xmlns:a16="http://schemas.microsoft.com/office/drawing/2014/main" val="3694304185"/>
                    </a:ext>
                  </a:extLst>
                </a:gridCol>
              </a:tblGrid>
              <a:tr h="0">
                <a:tc>
                  <a:txBody>
                    <a:bodyPr/>
                    <a:lstStyle/>
                    <a:p>
                      <a:pPr>
                        <a:buNone/>
                      </a:pPr>
                      <a:r>
                        <a:rPr lang="en-IN" b="1" dirty="0"/>
                        <a:t>Statistics &amp; Machine Learning Toolbox-</a:t>
                      </a:r>
                      <a:endParaRPr lang="en-IN" dirty="0"/>
                    </a:p>
                  </a:txBody>
                  <a:tcPr anchor="ctr">
                    <a:lnL>
                      <a:noFill/>
                    </a:lnL>
                    <a:lnR>
                      <a:noFill/>
                    </a:lnR>
                    <a:lnT>
                      <a:noFill/>
                    </a:lnT>
                    <a:lnB>
                      <a:noFill/>
                    </a:lnB>
                    <a:noFill/>
                  </a:tcPr>
                </a:tc>
                <a:extLst>
                  <a:ext uri="{0D108BD9-81ED-4DB2-BD59-A6C34878D82A}">
                    <a16:rowId xmlns:a16="http://schemas.microsoft.com/office/drawing/2014/main" val="50074780"/>
                  </a:ext>
                </a:extLst>
              </a:tr>
            </a:tbl>
          </a:graphicData>
        </a:graphic>
      </p:graphicFrame>
      <p:graphicFrame>
        <p:nvGraphicFramePr>
          <p:cNvPr id="9" name="Table 8">
            <a:extLst>
              <a:ext uri="{FF2B5EF4-FFF2-40B4-BE49-F238E27FC236}">
                <a16:creationId xmlns:a16="http://schemas.microsoft.com/office/drawing/2014/main" id="{CC145849-10FF-EAC6-0D39-332BB0E6C91E}"/>
              </a:ext>
            </a:extLst>
          </p:cNvPr>
          <p:cNvGraphicFramePr>
            <a:graphicFrameLocks noGrp="1"/>
          </p:cNvGraphicFramePr>
          <p:nvPr>
            <p:extLst>
              <p:ext uri="{D42A27DB-BD31-4B8C-83A1-F6EECF244321}">
                <p14:modId xmlns:p14="http://schemas.microsoft.com/office/powerpoint/2010/main" val="2744648010"/>
              </p:ext>
            </p:extLst>
          </p:nvPr>
        </p:nvGraphicFramePr>
        <p:xfrm>
          <a:off x="3899453" y="3951185"/>
          <a:ext cx="10515600" cy="304800"/>
        </p:xfrm>
        <a:graphic>
          <a:graphicData uri="http://schemas.openxmlformats.org/drawingml/2006/table">
            <a:tbl>
              <a:tblPr/>
              <a:tblGrid>
                <a:gridCol w="10515600">
                  <a:extLst>
                    <a:ext uri="{9D8B030D-6E8A-4147-A177-3AD203B41FA5}">
                      <a16:colId xmlns:a16="http://schemas.microsoft.com/office/drawing/2014/main" val="4224275393"/>
                    </a:ext>
                  </a:extLst>
                </a:gridCol>
              </a:tblGrid>
              <a:tr h="0">
                <a:tc>
                  <a:txBody>
                    <a:bodyPr/>
                    <a:lstStyle/>
                    <a:p>
                      <a:pPr>
                        <a:buNone/>
                      </a:pPr>
                      <a:r>
                        <a:rPr lang="en-IN" dirty="0"/>
                        <a:t>Rayleigh fading, random noise, percentiles, distance calculations</a:t>
                      </a:r>
                    </a:p>
                  </a:txBody>
                  <a:tcPr anchor="ctr">
                    <a:lnL>
                      <a:noFill/>
                    </a:lnL>
                    <a:lnR>
                      <a:noFill/>
                    </a:lnR>
                    <a:lnT>
                      <a:noFill/>
                    </a:lnT>
                    <a:lnB>
                      <a:noFill/>
                    </a:lnB>
                    <a:noFill/>
                  </a:tcPr>
                </a:tc>
                <a:extLst>
                  <a:ext uri="{0D108BD9-81ED-4DB2-BD59-A6C34878D82A}">
                    <a16:rowId xmlns:a16="http://schemas.microsoft.com/office/drawing/2014/main" val="421848522"/>
                  </a:ext>
                </a:extLst>
              </a:tr>
            </a:tbl>
          </a:graphicData>
        </a:graphic>
      </p:graphicFrame>
      <p:graphicFrame>
        <p:nvGraphicFramePr>
          <p:cNvPr id="10" name="Table 9">
            <a:extLst>
              <a:ext uri="{FF2B5EF4-FFF2-40B4-BE49-F238E27FC236}">
                <a16:creationId xmlns:a16="http://schemas.microsoft.com/office/drawing/2014/main" id="{832AF71E-F6D8-3165-6D2B-7F019A7FB897}"/>
              </a:ext>
            </a:extLst>
          </p:cNvPr>
          <p:cNvGraphicFramePr>
            <a:graphicFrameLocks noGrp="1"/>
          </p:cNvGraphicFramePr>
          <p:nvPr>
            <p:extLst>
              <p:ext uri="{D42A27DB-BD31-4B8C-83A1-F6EECF244321}">
                <p14:modId xmlns:p14="http://schemas.microsoft.com/office/powerpoint/2010/main" val="3708408130"/>
              </p:ext>
            </p:extLst>
          </p:nvPr>
        </p:nvGraphicFramePr>
        <p:xfrm>
          <a:off x="452647" y="4431264"/>
          <a:ext cx="10515600" cy="304800"/>
        </p:xfrm>
        <a:graphic>
          <a:graphicData uri="http://schemas.openxmlformats.org/drawingml/2006/table">
            <a:tbl>
              <a:tblPr/>
              <a:tblGrid>
                <a:gridCol w="10515600">
                  <a:extLst>
                    <a:ext uri="{9D8B030D-6E8A-4147-A177-3AD203B41FA5}">
                      <a16:colId xmlns:a16="http://schemas.microsoft.com/office/drawing/2014/main" val="925861881"/>
                    </a:ext>
                  </a:extLst>
                </a:gridCol>
              </a:tblGrid>
              <a:tr h="0">
                <a:tc>
                  <a:txBody>
                    <a:bodyPr/>
                    <a:lstStyle/>
                    <a:p>
                      <a:pPr>
                        <a:buNone/>
                      </a:pPr>
                      <a:r>
                        <a:rPr lang="en-IN" b="1" dirty="0"/>
                        <a:t>Parallel Computing Toolbox- </a:t>
                      </a:r>
                      <a:endParaRPr lang="en-IN" dirty="0"/>
                    </a:p>
                  </a:txBody>
                  <a:tcPr anchor="ctr">
                    <a:lnL>
                      <a:noFill/>
                    </a:lnL>
                    <a:lnR>
                      <a:noFill/>
                    </a:lnR>
                    <a:lnT>
                      <a:noFill/>
                    </a:lnT>
                    <a:lnB>
                      <a:noFill/>
                    </a:lnB>
                    <a:noFill/>
                  </a:tcPr>
                </a:tc>
                <a:extLst>
                  <a:ext uri="{0D108BD9-81ED-4DB2-BD59-A6C34878D82A}">
                    <a16:rowId xmlns:a16="http://schemas.microsoft.com/office/drawing/2014/main" val="428562752"/>
                  </a:ext>
                </a:extLst>
              </a:tr>
            </a:tbl>
          </a:graphicData>
        </a:graphic>
      </p:graphicFrame>
      <p:graphicFrame>
        <p:nvGraphicFramePr>
          <p:cNvPr id="11" name="Table 10">
            <a:extLst>
              <a:ext uri="{FF2B5EF4-FFF2-40B4-BE49-F238E27FC236}">
                <a16:creationId xmlns:a16="http://schemas.microsoft.com/office/drawing/2014/main" id="{DED0B220-E2D6-FF0E-B75A-36CC4991BD99}"/>
              </a:ext>
            </a:extLst>
          </p:cNvPr>
          <p:cNvGraphicFramePr>
            <a:graphicFrameLocks noGrp="1"/>
          </p:cNvGraphicFramePr>
          <p:nvPr>
            <p:extLst>
              <p:ext uri="{D42A27DB-BD31-4B8C-83A1-F6EECF244321}">
                <p14:modId xmlns:p14="http://schemas.microsoft.com/office/powerpoint/2010/main" val="2187486408"/>
              </p:ext>
            </p:extLst>
          </p:nvPr>
        </p:nvGraphicFramePr>
        <p:xfrm>
          <a:off x="3250096" y="4431264"/>
          <a:ext cx="11661913" cy="304800"/>
        </p:xfrm>
        <a:graphic>
          <a:graphicData uri="http://schemas.openxmlformats.org/drawingml/2006/table">
            <a:tbl>
              <a:tblPr/>
              <a:tblGrid>
                <a:gridCol w="11661913">
                  <a:extLst>
                    <a:ext uri="{9D8B030D-6E8A-4147-A177-3AD203B41FA5}">
                      <a16:colId xmlns:a16="http://schemas.microsoft.com/office/drawing/2014/main" val="588852380"/>
                    </a:ext>
                  </a:extLst>
                </a:gridCol>
              </a:tblGrid>
              <a:tr h="0">
                <a:tc>
                  <a:txBody>
                    <a:bodyPr/>
                    <a:lstStyle/>
                    <a:p>
                      <a:pPr>
                        <a:buNone/>
                      </a:pPr>
                      <a:r>
                        <a:rPr lang="en-IN" dirty="0"/>
                        <a:t>Multi-run Monte-Carlo speedup </a:t>
                      </a:r>
                    </a:p>
                  </a:txBody>
                  <a:tcPr anchor="ctr">
                    <a:lnL>
                      <a:noFill/>
                    </a:lnL>
                    <a:lnR>
                      <a:noFill/>
                    </a:lnR>
                    <a:lnT>
                      <a:noFill/>
                    </a:lnT>
                    <a:lnB>
                      <a:noFill/>
                    </a:lnB>
                    <a:noFill/>
                  </a:tcPr>
                </a:tc>
                <a:extLst>
                  <a:ext uri="{0D108BD9-81ED-4DB2-BD59-A6C34878D82A}">
                    <a16:rowId xmlns:a16="http://schemas.microsoft.com/office/drawing/2014/main" val="1486974791"/>
                  </a:ext>
                </a:extLst>
              </a:tr>
            </a:tbl>
          </a:graphicData>
        </a:graphic>
      </p:graphicFrame>
    </p:spTree>
    <p:extLst>
      <p:ext uri="{BB962C8B-B14F-4D97-AF65-F5344CB8AC3E}">
        <p14:creationId xmlns:p14="http://schemas.microsoft.com/office/powerpoint/2010/main" val="2538241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
        <p:nvSpPr>
          <p:cNvPr id="14" name="AutoShape 2" descr="Block diagram with beige background and original content from user screenshot.">
            <a:extLst>
              <a:ext uri="{FF2B5EF4-FFF2-40B4-BE49-F238E27FC236}">
                <a16:creationId xmlns:a16="http://schemas.microsoft.com/office/drawing/2014/main" id="{7F648131-F8E5-1E67-FD6C-79C501C4C68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descr="A diagram of a program&#10;&#10;AI-generated content may be incorrect.">
            <a:extLst>
              <a:ext uri="{FF2B5EF4-FFF2-40B4-BE49-F238E27FC236}">
                <a16:creationId xmlns:a16="http://schemas.microsoft.com/office/drawing/2014/main" id="{547AE195-40C5-1BB1-5633-C9E5D7009327}"/>
              </a:ext>
            </a:extLst>
          </p:cNvPr>
          <p:cNvPicPr>
            <a:picLocks noChangeAspect="1"/>
          </p:cNvPicPr>
          <p:nvPr/>
        </p:nvPicPr>
        <p:blipFill>
          <a:blip r:embed="rId2"/>
          <a:stretch>
            <a:fillRect/>
          </a:stretch>
        </p:blipFill>
        <p:spPr>
          <a:xfrm>
            <a:off x="1745351" y="636102"/>
            <a:ext cx="8937273" cy="5585796"/>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A5DA1D-84D7-8924-0F5D-596DC6DD05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6" name="TextBox 5">
            <a:extLst>
              <a:ext uri="{FF2B5EF4-FFF2-40B4-BE49-F238E27FC236}">
                <a16:creationId xmlns:a16="http://schemas.microsoft.com/office/drawing/2014/main" id="{264DB2F6-5DD3-99EE-4EA5-18BC056F900B}"/>
              </a:ext>
            </a:extLst>
          </p:cNvPr>
          <p:cNvSpPr txBox="1"/>
          <p:nvPr/>
        </p:nvSpPr>
        <p:spPr>
          <a:xfrm>
            <a:off x="4124739" y="442796"/>
            <a:ext cx="2365513" cy="461665"/>
          </a:xfrm>
          <a:prstGeom prst="rect">
            <a:avLst/>
          </a:prstGeom>
          <a:noFill/>
        </p:spPr>
        <p:txBody>
          <a:bodyPr wrap="square" rtlCol="0">
            <a:spAutoFit/>
          </a:bodyPr>
          <a:lstStyle/>
          <a:p>
            <a:r>
              <a:rPr lang="en-US" sz="2400" b="1" dirty="0"/>
              <a:t>WORKFLOW</a:t>
            </a:r>
            <a:endParaRPr lang="en-IN" sz="2400" b="1" dirty="0"/>
          </a:p>
        </p:txBody>
      </p:sp>
      <p:sp>
        <p:nvSpPr>
          <p:cNvPr id="22" name="Picture Placeholder 21">
            <a:extLst>
              <a:ext uri="{FF2B5EF4-FFF2-40B4-BE49-F238E27FC236}">
                <a16:creationId xmlns:a16="http://schemas.microsoft.com/office/drawing/2014/main" id="{21574FFE-5EBC-049E-84F0-F86F69DB8AF6}"/>
              </a:ext>
            </a:extLst>
          </p:cNvPr>
          <p:cNvSpPr>
            <a:spLocks noGrp="1"/>
          </p:cNvSpPr>
          <p:nvPr>
            <p:ph type="pic" idx="2"/>
          </p:nvPr>
        </p:nvSpPr>
        <p:spPr/>
        <p:txBody>
          <a:bodyPr/>
          <a:lstStyle/>
          <a:p>
            <a:endParaRPr lang="en-IN"/>
          </a:p>
        </p:txBody>
      </p:sp>
      <p:pic>
        <p:nvPicPr>
          <p:cNvPr id="24" name="Picture 23">
            <a:extLst>
              <a:ext uri="{FF2B5EF4-FFF2-40B4-BE49-F238E27FC236}">
                <a16:creationId xmlns:a16="http://schemas.microsoft.com/office/drawing/2014/main" id="{1D6C39F6-7FBA-771A-0037-0C974F29E3D3}"/>
              </a:ext>
            </a:extLst>
          </p:cNvPr>
          <p:cNvPicPr>
            <a:picLocks noChangeAspect="1"/>
          </p:cNvPicPr>
          <p:nvPr/>
        </p:nvPicPr>
        <p:blipFill>
          <a:blip r:embed="rId2"/>
          <a:stretch>
            <a:fillRect/>
          </a:stretch>
        </p:blipFill>
        <p:spPr>
          <a:xfrm>
            <a:off x="123849" y="1137282"/>
            <a:ext cx="11526859" cy="4782217"/>
          </a:xfrm>
          <a:prstGeom prst="rect">
            <a:avLst/>
          </a:prstGeom>
        </p:spPr>
      </p:pic>
    </p:spTree>
    <p:extLst>
      <p:ext uri="{BB962C8B-B14F-4D97-AF65-F5344CB8AC3E}">
        <p14:creationId xmlns:p14="http://schemas.microsoft.com/office/powerpoint/2010/main" val="1318227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304799" y="405794"/>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flipH="1" flipV="1">
            <a:off x="6213987" y="6523857"/>
            <a:ext cx="1691147" cy="365125"/>
          </a:xfrm>
          <a:prstGeom prst="rect">
            <a:avLst/>
          </a:prstGeom>
          <a:noFill/>
          <a:ln>
            <a:noFill/>
          </a:ln>
        </p:spPr>
        <p:txBody>
          <a:bodyPr spcFirstLastPara="1" wrap="square" lIns="91425" tIns="45700" rIns="91425" bIns="45700" anchor="t" anchorCtr="0">
            <a:noAutofit/>
          </a:bodyPr>
          <a:lstStyle/>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145163" y="1064761"/>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endParaRPr lang="en-IN" dirty="0"/>
          </a:p>
        </p:txBody>
      </p:sp>
      <p:sp>
        <p:nvSpPr>
          <p:cNvPr id="6" name="TextBox 5">
            <a:extLst>
              <a:ext uri="{FF2B5EF4-FFF2-40B4-BE49-F238E27FC236}">
                <a16:creationId xmlns:a16="http://schemas.microsoft.com/office/drawing/2014/main" id="{083C7ABC-B335-9671-F78E-D1F814638489}"/>
              </a:ext>
            </a:extLst>
          </p:cNvPr>
          <p:cNvSpPr txBox="1"/>
          <p:nvPr/>
        </p:nvSpPr>
        <p:spPr>
          <a:xfrm>
            <a:off x="1002890" y="1228397"/>
            <a:ext cx="9382697" cy="4401205"/>
          </a:xfrm>
          <a:prstGeom prst="rect">
            <a:avLst/>
          </a:prstGeom>
          <a:noFill/>
        </p:spPr>
        <p:txBody>
          <a:bodyPr wrap="none" rtlCol="0">
            <a:spAutoFit/>
          </a:bodyPr>
          <a:lstStyle/>
          <a:p>
            <a:pPr lvl="0"/>
            <a:r>
              <a:rPr lang="en-IN" b="1" dirty="0">
                <a:latin typeface="Verdana" panose="020B0604030504040204" pitchFamily="34" charset="0"/>
                <a:ea typeface="Verdana" panose="020B0604030504040204" pitchFamily="34" charset="0"/>
              </a:rPr>
              <a:t>Use Cases</a:t>
            </a:r>
          </a:p>
          <a:p>
            <a:r>
              <a:rPr lang="en-IN" b="1" dirty="0"/>
              <a:t>TC-01: </a:t>
            </a:r>
          </a:p>
          <a:p>
            <a:r>
              <a:rPr lang="en-IN" b="1" dirty="0"/>
              <a:t>Simulation Setup</a:t>
            </a:r>
            <a:r>
              <a:rPr lang="en-IN" dirty="0"/>
              <a:t> → MATLAB 5G Toolbox loaded, network parameters initialized successfully.</a:t>
            </a:r>
          </a:p>
          <a:p>
            <a:r>
              <a:rPr lang="en-IN" b="1" dirty="0"/>
              <a:t>TC-02: </a:t>
            </a:r>
          </a:p>
          <a:p>
            <a:r>
              <a:rPr lang="en-IN" b="1" dirty="0"/>
              <a:t>Vehicle Mobility</a:t>
            </a:r>
            <a:r>
              <a:rPr lang="en-IN" dirty="0"/>
              <a:t> → Vehicle positions update correctly using MATLAB Vehicle Dynamics </a:t>
            </a:r>
            <a:r>
              <a:rPr lang="en-IN" dirty="0" err="1"/>
              <a:t>Blockset</a:t>
            </a:r>
            <a:r>
              <a:rPr lang="en-IN" dirty="0"/>
              <a:t>.</a:t>
            </a:r>
          </a:p>
          <a:p>
            <a:r>
              <a:rPr lang="en-IN" b="1" dirty="0"/>
              <a:t>TC-03: </a:t>
            </a:r>
          </a:p>
          <a:p>
            <a:r>
              <a:rPr lang="en-IN" b="1" dirty="0"/>
              <a:t>V2V Communication</a:t>
            </a:r>
            <a:r>
              <a:rPr lang="en-IN" dirty="0"/>
              <a:t> → MATLAB simulation shows messages transmitted between vehicles, packet loss &lt; 5%.</a:t>
            </a:r>
          </a:p>
          <a:p>
            <a:r>
              <a:rPr lang="en-IN" b="1" dirty="0"/>
              <a:t>TC-04: </a:t>
            </a:r>
          </a:p>
          <a:p>
            <a:r>
              <a:rPr lang="en-IN" b="1" dirty="0"/>
              <a:t>V2I Communication</a:t>
            </a:r>
            <a:r>
              <a:rPr lang="en-IN" dirty="0"/>
              <a:t> → Vehicles connected successfully to simulated infrastructure (RSU/base station) in MATLAB.</a:t>
            </a:r>
          </a:p>
          <a:p>
            <a:r>
              <a:rPr lang="en-IN" b="1" dirty="0"/>
              <a:t>TC-05: </a:t>
            </a:r>
          </a:p>
          <a:p>
            <a:r>
              <a:rPr lang="en-IN" b="1" dirty="0"/>
              <a:t>Latency Measurement</a:t>
            </a:r>
            <a:r>
              <a:rPr lang="en-IN" dirty="0"/>
              <a:t> → End-to-end latency calculated using MATLAB functions ≤ 10 </a:t>
            </a:r>
            <a:r>
              <a:rPr lang="en-IN" dirty="0" err="1"/>
              <a:t>ms</a:t>
            </a:r>
            <a:r>
              <a:rPr lang="en-IN" dirty="0"/>
              <a:t> for safety messages.</a:t>
            </a:r>
          </a:p>
          <a:p>
            <a:r>
              <a:rPr lang="en-IN" b="1" dirty="0"/>
              <a:t>TC-06: </a:t>
            </a:r>
          </a:p>
          <a:p>
            <a:r>
              <a:rPr lang="en-IN" b="1" dirty="0"/>
              <a:t>Throughput Calculation</a:t>
            </a:r>
            <a:r>
              <a:rPr lang="en-IN" dirty="0"/>
              <a:t> → MATLAB computes throughput ≥ 95% of configured 5G bandwidth.</a:t>
            </a:r>
          </a:p>
          <a:p>
            <a:r>
              <a:rPr lang="en-IN" b="1" dirty="0"/>
              <a:t>TC-07: </a:t>
            </a:r>
          </a:p>
          <a:p>
            <a:r>
              <a:rPr lang="en-IN" b="1" dirty="0"/>
              <a:t>Reliability Testing</a:t>
            </a:r>
            <a:r>
              <a:rPr lang="en-IN" dirty="0"/>
              <a:t> → MATLAB simulation shows packet delivery ratio ≥ 90% under different traffic densities.</a:t>
            </a:r>
          </a:p>
          <a:p>
            <a:r>
              <a:rPr lang="en-IN" b="1" dirty="0"/>
              <a:t>TC-08: </a:t>
            </a:r>
          </a:p>
          <a:p>
            <a:r>
              <a:rPr lang="en-IN" b="1" dirty="0"/>
              <a:t>Visualization</a:t>
            </a:r>
            <a:r>
              <a:rPr lang="en-IN" dirty="0"/>
              <a:t> → MATLAB plots display vehicle positions and communication links clearly.</a:t>
            </a:r>
          </a:p>
          <a:p>
            <a:pPr marL="285750" lvl="0" indent="-285750">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lvl="0" indent="-285750">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endParaRPr lang="en-IN" dirty="0"/>
          </a:p>
        </p:txBody>
      </p:sp>
    </p:spTree>
    <p:extLst>
      <p:ext uri="{BB962C8B-B14F-4D97-AF65-F5344CB8AC3E}">
        <p14:creationId xmlns:p14="http://schemas.microsoft.com/office/powerpoint/2010/main" val="199542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2" name="TextBox 1">
            <a:extLst>
              <a:ext uri="{FF2B5EF4-FFF2-40B4-BE49-F238E27FC236}">
                <a16:creationId xmlns:a16="http://schemas.microsoft.com/office/drawing/2014/main" id="{FF32DA60-F7DE-05BF-D7EE-3DA6AAA52B65}"/>
              </a:ext>
            </a:extLst>
          </p:cNvPr>
          <p:cNvSpPr txBox="1"/>
          <p:nvPr/>
        </p:nvSpPr>
        <p:spPr>
          <a:xfrm>
            <a:off x="850231" y="1672222"/>
            <a:ext cx="9994232" cy="4524315"/>
          </a:xfrm>
          <a:prstGeom prst="rect">
            <a:avLst/>
          </a:prstGeom>
          <a:noFill/>
        </p:spPr>
        <p:txBody>
          <a:bodyPr wrap="square" rtlCol="0">
            <a:spAutoFit/>
          </a:bodyPr>
          <a:lstStyle/>
          <a:p>
            <a:pPr lvl="0"/>
            <a:r>
              <a:rPr lang="en-IN" sz="1600" b="1" dirty="0">
                <a:latin typeface="+mn-lt"/>
                <a:ea typeface="Verdana" panose="020B0604030504040204" pitchFamily="34" charset="0"/>
              </a:rPr>
              <a:t>Test Cases </a:t>
            </a:r>
          </a:p>
          <a:p>
            <a:pPr lvl="0"/>
            <a:endParaRPr lang="en-IN" sz="1600" b="1" dirty="0">
              <a:latin typeface="+mn-lt"/>
              <a:ea typeface="Verdana" panose="020B0604030504040204" pitchFamily="34" charset="0"/>
            </a:endParaRPr>
          </a:p>
          <a:p>
            <a:r>
              <a:rPr lang="en-IN" sz="1600" b="1" dirty="0">
                <a:latin typeface="+mn-lt"/>
              </a:rPr>
              <a:t>TC-01: Latency Calculation</a:t>
            </a:r>
          </a:p>
          <a:p>
            <a:r>
              <a:rPr lang="en-IN" sz="1600" dirty="0">
                <a:latin typeface="+mn-lt"/>
              </a:rPr>
              <a:t> → MATLAB computes accurate end-to-end latency for all V2V packets.</a:t>
            </a:r>
          </a:p>
          <a:p>
            <a:r>
              <a:rPr lang="en-IN" sz="1600" b="1" dirty="0">
                <a:latin typeface="+mn-lt"/>
              </a:rPr>
              <a:t>TC-02:</a:t>
            </a:r>
            <a:r>
              <a:rPr lang="en-IN" sz="1600" dirty="0">
                <a:latin typeface="+mn-lt"/>
              </a:rPr>
              <a:t> Latency Matrix </a:t>
            </a:r>
          </a:p>
          <a:p>
            <a:r>
              <a:rPr lang="en-IN" sz="1600" dirty="0">
                <a:latin typeface="+mn-lt"/>
              </a:rPr>
              <a:t>→ MATLAB generates correct vehicle-to-vehicle latency matrix with valid values.</a:t>
            </a:r>
          </a:p>
          <a:p>
            <a:r>
              <a:rPr lang="en-IN" sz="1600" b="1" dirty="0">
                <a:latin typeface="+mn-lt"/>
              </a:rPr>
              <a:t>TC-03:</a:t>
            </a:r>
            <a:r>
              <a:rPr lang="en-IN" sz="1600" dirty="0">
                <a:latin typeface="+mn-lt"/>
              </a:rPr>
              <a:t> Power Delivery Ratio (PDR)</a:t>
            </a:r>
          </a:p>
          <a:p>
            <a:r>
              <a:rPr lang="en-IN" sz="1600" dirty="0">
                <a:latin typeface="+mn-lt"/>
              </a:rPr>
              <a:t> → MATLAB calculates correct PDR based on received signal power levels.</a:t>
            </a:r>
          </a:p>
          <a:p>
            <a:r>
              <a:rPr lang="en-IN" sz="1600" b="1" dirty="0">
                <a:latin typeface="+mn-lt"/>
              </a:rPr>
              <a:t>TC-04:</a:t>
            </a:r>
            <a:r>
              <a:rPr lang="en-IN" sz="1600" dirty="0">
                <a:latin typeface="+mn-lt"/>
              </a:rPr>
              <a:t> Mean Latency per Vehicle</a:t>
            </a:r>
          </a:p>
          <a:p>
            <a:r>
              <a:rPr lang="en-IN" sz="1600" dirty="0">
                <a:latin typeface="+mn-lt"/>
              </a:rPr>
              <a:t> → MATLAB outputs correct average latency values for each vehicle.</a:t>
            </a:r>
          </a:p>
          <a:p>
            <a:r>
              <a:rPr lang="en-IN" sz="1600" b="1" dirty="0">
                <a:latin typeface="+mn-lt"/>
              </a:rPr>
              <a:t>TC-05:</a:t>
            </a:r>
            <a:r>
              <a:rPr lang="en-IN" sz="1600" dirty="0">
                <a:latin typeface="+mn-lt"/>
              </a:rPr>
              <a:t> Heat Matrix</a:t>
            </a:r>
          </a:p>
          <a:p>
            <a:r>
              <a:rPr lang="en-IN" sz="1600" dirty="0">
                <a:latin typeface="+mn-lt"/>
              </a:rPr>
              <a:t> → MATLAB generates correct heatmap for latency/SNR/performance without missing data.</a:t>
            </a:r>
          </a:p>
          <a:p>
            <a:r>
              <a:rPr lang="en-IN" sz="1600" b="1" dirty="0">
                <a:latin typeface="+mn-lt"/>
              </a:rPr>
              <a:t>TC-06:</a:t>
            </a:r>
            <a:r>
              <a:rPr lang="en-IN" sz="1600" dirty="0">
                <a:latin typeface="+mn-lt"/>
              </a:rPr>
              <a:t> Safety Risk Matrix </a:t>
            </a:r>
          </a:p>
          <a:p>
            <a:r>
              <a:rPr lang="en-IN" sz="1600" dirty="0">
                <a:latin typeface="+mn-lt"/>
              </a:rPr>
              <a:t>→ MATLAB produces accurate risk matrix using latency, distance, and reliability metrics.</a:t>
            </a:r>
          </a:p>
          <a:p>
            <a:r>
              <a:rPr lang="en-IN" sz="1600" b="1" dirty="0">
                <a:latin typeface="+mn-lt"/>
              </a:rPr>
              <a:t>TC-07:</a:t>
            </a:r>
            <a:r>
              <a:rPr lang="en-IN" sz="1600" dirty="0">
                <a:latin typeface="+mn-lt"/>
              </a:rPr>
              <a:t> Scenario Variation </a:t>
            </a:r>
          </a:p>
          <a:p>
            <a:r>
              <a:rPr lang="en-IN" sz="1600" dirty="0">
                <a:latin typeface="+mn-lt"/>
              </a:rPr>
              <a:t>→ MATLAB updates all performance metrics correctly across urban/highway/dense-traffic scenarios.</a:t>
            </a:r>
          </a:p>
          <a:p>
            <a:endParaRPr lang="en-IN" sz="1600" dirty="0">
              <a:latin typeface="+mn-lt"/>
            </a:endParaRPr>
          </a:p>
          <a:p>
            <a:endParaRPr lang="en-IN" sz="1600" dirty="0">
              <a:latin typeface="+mn-lt"/>
            </a:endParaRPr>
          </a:p>
        </p:txBody>
      </p:sp>
      <p:sp>
        <p:nvSpPr>
          <p:cNvPr id="5" name="TextBox 4">
            <a:extLst>
              <a:ext uri="{FF2B5EF4-FFF2-40B4-BE49-F238E27FC236}">
                <a16:creationId xmlns:a16="http://schemas.microsoft.com/office/drawing/2014/main" id="{A2D71D62-6345-F147-A531-E1F16CA67029}"/>
              </a:ext>
            </a:extLst>
          </p:cNvPr>
          <p:cNvSpPr txBox="1"/>
          <p:nvPr/>
        </p:nvSpPr>
        <p:spPr>
          <a:xfrm>
            <a:off x="4158129" y="861728"/>
            <a:ext cx="1890261" cy="461665"/>
          </a:xfrm>
          <a:prstGeom prst="rect">
            <a:avLst/>
          </a:prstGeom>
          <a:noFill/>
        </p:spPr>
        <p:txBody>
          <a:bodyPr wrap="none" rtlCol="0">
            <a:spAutoFit/>
          </a:bodyPr>
          <a:lstStyle/>
          <a:p>
            <a:r>
              <a:rPr lang="en-US" sz="2400" b="1" dirty="0">
                <a:latin typeface="Montserrat"/>
                <a:ea typeface="Montserrat"/>
                <a:cs typeface="Montserrat"/>
                <a:sym typeface="Montserrat"/>
              </a:rPr>
              <a:t>Test Cases</a:t>
            </a:r>
            <a:endParaRPr lang="en-IN" sz="2400" b="1" dirty="0"/>
          </a:p>
        </p:txBody>
      </p:sp>
    </p:spTree>
    <p:extLst>
      <p:ext uri="{BB962C8B-B14F-4D97-AF65-F5344CB8AC3E}">
        <p14:creationId xmlns:p14="http://schemas.microsoft.com/office/powerpoint/2010/main" val="1229190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1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301524" y="425967"/>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1 : Results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B407A449-5DE0-EAE5-8996-8F1904852133}"/>
              </a:ext>
            </a:extLst>
          </p:cNvPr>
          <p:cNvPicPr>
            <a:picLocks noChangeAspect="1"/>
          </p:cNvPicPr>
          <p:nvPr/>
        </p:nvPicPr>
        <p:blipFill>
          <a:blip r:embed="rId2"/>
          <a:stretch>
            <a:fillRect/>
          </a:stretch>
        </p:blipFill>
        <p:spPr>
          <a:xfrm>
            <a:off x="1449896" y="919824"/>
            <a:ext cx="7998903" cy="4796672"/>
          </a:xfrm>
          <a:prstGeom prst="rect">
            <a:avLst/>
          </a:prstGeom>
        </p:spPr>
      </p:pic>
      <p:sp>
        <p:nvSpPr>
          <p:cNvPr id="12" name="TextBox 11">
            <a:extLst>
              <a:ext uri="{FF2B5EF4-FFF2-40B4-BE49-F238E27FC236}">
                <a16:creationId xmlns:a16="http://schemas.microsoft.com/office/drawing/2014/main" id="{64DE2A9F-EFAD-9FDA-A569-5A8B14E35C0A}"/>
              </a:ext>
            </a:extLst>
          </p:cNvPr>
          <p:cNvSpPr txBox="1"/>
          <p:nvPr/>
        </p:nvSpPr>
        <p:spPr>
          <a:xfrm>
            <a:off x="3551912" y="5880718"/>
            <a:ext cx="3713258" cy="307777"/>
          </a:xfrm>
          <a:prstGeom prst="rect">
            <a:avLst/>
          </a:prstGeom>
          <a:noFill/>
        </p:spPr>
        <p:txBody>
          <a:bodyPr wrap="square" rtlCol="0">
            <a:spAutoFit/>
          </a:bodyPr>
          <a:lstStyle/>
          <a:p>
            <a:r>
              <a:rPr lang="en-IN" b="1" dirty="0"/>
              <a:t>5G V2V COMMUNICATION TOPOLOGY</a:t>
            </a:r>
          </a:p>
        </p:txBody>
      </p:sp>
      <p:sp>
        <p:nvSpPr>
          <p:cNvPr id="14" name="TextBox 13">
            <a:extLst>
              <a:ext uri="{FF2B5EF4-FFF2-40B4-BE49-F238E27FC236}">
                <a16:creationId xmlns:a16="http://schemas.microsoft.com/office/drawing/2014/main" id="{27DC1AAD-F6AF-6638-5C4F-30FB043AFFFB}"/>
              </a:ext>
            </a:extLst>
          </p:cNvPr>
          <p:cNvSpPr txBox="1"/>
          <p:nvPr/>
        </p:nvSpPr>
        <p:spPr>
          <a:xfrm>
            <a:off x="5290101" y="3293848"/>
            <a:ext cx="2529509" cy="307777"/>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id="{8EAADAE2-8970-AA1E-2259-09DF6CF781F4}"/>
              </a:ext>
            </a:extLst>
          </p:cNvPr>
          <p:cNvSpPr txBox="1"/>
          <p:nvPr/>
        </p:nvSpPr>
        <p:spPr>
          <a:xfrm>
            <a:off x="8528747" y="3360135"/>
            <a:ext cx="3361729" cy="307777"/>
          </a:xfrm>
          <a:prstGeom prst="rect">
            <a:avLst/>
          </a:prstGeom>
          <a:noFill/>
        </p:spPr>
        <p:txBody>
          <a:bodyPr wrap="square" rtlCol="0">
            <a:spAutoFit/>
          </a:bodyPr>
          <a:lstStyle/>
          <a:p>
            <a:endParaRPr lang="en-IN" b="1" dirty="0"/>
          </a:p>
        </p:txBody>
      </p:sp>
    </p:spTree>
    <p:extLst>
      <p:ext uri="{BB962C8B-B14F-4D97-AF65-F5344CB8AC3E}">
        <p14:creationId xmlns:p14="http://schemas.microsoft.com/office/powerpoint/2010/main" val="194821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screenshot of a computer&#10;&#10;AI-generated content may be incorrect.">
            <a:extLst>
              <a:ext uri="{FF2B5EF4-FFF2-40B4-BE49-F238E27FC236}">
                <a16:creationId xmlns:a16="http://schemas.microsoft.com/office/drawing/2014/main" id="{14F24218-2815-CE2A-3ECF-B9CDF8D9827E}"/>
              </a:ext>
            </a:extLst>
          </p:cNvPr>
          <p:cNvPicPr>
            <a:picLocks noGrp="1" noChangeAspect="1"/>
          </p:cNvPicPr>
          <p:nvPr>
            <p:ph type="pic" idx="2"/>
          </p:nvPr>
        </p:nvPicPr>
        <p:blipFill>
          <a:blip r:embed="rId2"/>
          <a:srcRect t="4964" b="4964"/>
          <a:stretch>
            <a:fillRect/>
          </a:stretch>
        </p:blipFill>
        <p:spPr>
          <a:xfrm>
            <a:off x="1530627" y="1106902"/>
            <a:ext cx="8756373" cy="4925460"/>
          </a:xfrm>
        </p:spPr>
      </p:pic>
      <p:sp>
        <p:nvSpPr>
          <p:cNvPr id="3" name="Slide Number Placeholder 2">
            <a:extLst>
              <a:ext uri="{FF2B5EF4-FFF2-40B4-BE49-F238E27FC236}">
                <a16:creationId xmlns:a16="http://schemas.microsoft.com/office/drawing/2014/main" id="{3E9F47AB-203C-05D0-00A4-1174310420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9" name="TextBox 8">
            <a:extLst>
              <a:ext uri="{FF2B5EF4-FFF2-40B4-BE49-F238E27FC236}">
                <a16:creationId xmlns:a16="http://schemas.microsoft.com/office/drawing/2014/main" id="{C8C74D46-1727-8BFD-8560-D7B9BD804B35}"/>
              </a:ext>
            </a:extLst>
          </p:cNvPr>
          <p:cNvSpPr txBox="1"/>
          <p:nvPr/>
        </p:nvSpPr>
        <p:spPr>
          <a:xfrm>
            <a:off x="1935644" y="124408"/>
            <a:ext cx="7367381"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2 </a:t>
            </a:r>
            <a:endParaRPr lang="en-US" sz="2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9BA759C-1D4A-DAB8-AA1F-346A0B33476B}"/>
              </a:ext>
            </a:extLst>
          </p:cNvPr>
          <p:cNvSpPr txBox="1"/>
          <p:nvPr/>
        </p:nvSpPr>
        <p:spPr>
          <a:xfrm>
            <a:off x="206237" y="692599"/>
            <a:ext cx="6097656"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2 : Results </a:t>
            </a:r>
          </a:p>
        </p:txBody>
      </p:sp>
      <p:sp>
        <p:nvSpPr>
          <p:cNvPr id="12" name="TextBox 11">
            <a:extLst>
              <a:ext uri="{FF2B5EF4-FFF2-40B4-BE49-F238E27FC236}">
                <a16:creationId xmlns:a16="http://schemas.microsoft.com/office/drawing/2014/main" id="{7E43A537-4647-20BE-9F72-B4F250A52B3E}"/>
              </a:ext>
            </a:extLst>
          </p:cNvPr>
          <p:cNvSpPr txBox="1"/>
          <p:nvPr/>
        </p:nvSpPr>
        <p:spPr>
          <a:xfrm>
            <a:off x="5044109" y="6185098"/>
            <a:ext cx="1943100" cy="307777"/>
          </a:xfrm>
          <a:prstGeom prst="rect">
            <a:avLst/>
          </a:prstGeom>
          <a:noFill/>
        </p:spPr>
        <p:txBody>
          <a:bodyPr wrap="square" rtlCol="0">
            <a:spAutoFit/>
          </a:bodyPr>
          <a:lstStyle/>
          <a:p>
            <a:r>
              <a:rPr lang="en-US" b="1" dirty="0"/>
              <a:t>LATENCY MATRIX</a:t>
            </a:r>
            <a:endParaRPr lang="en-IN" b="1" dirty="0"/>
          </a:p>
        </p:txBody>
      </p:sp>
    </p:spTree>
    <p:extLst>
      <p:ext uri="{BB962C8B-B14F-4D97-AF65-F5344CB8AC3E}">
        <p14:creationId xmlns:p14="http://schemas.microsoft.com/office/powerpoint/2010/main" val="527776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3A0DBB-5C4A-8F77-0141-FC7A12113D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7" name="Picture Placeholder 6">
            <a:extLst>
              <a:ext uri="{FF2B5EF4-FFF2-40B4-BE49-F238E27FC236}">
                <a16:creationId xmlns:a16="http://schemas.microsoft.com/office/drawing/2014/main" id="{A4C6A0FD-D67F-5F21-EFB1-B4B0BF113599}"/>
              </a:ext>
            </a:extLst>
          </p:cNvPr>
          <p:cNvSpPr>
            <a:spLocks noGrp="1"/>
          </p:cNvSpPr>
          <p:nvPr>
            <p:ph type="pic" idx="2"/>
          </p:nvPr>
        </p:nvSpPr>
        <p:spPr/>
        <p:txBody>
          <a:bodyPr/>
          <a:lstStyle/>
          <a:p>
            <a:endParaRPr lang="en-IN"/>
          </a:p>
        </p:txBody>
      </p:sp>
      <p:pic>
        <p:nvPicPr>
          <p:cNvPr id="9" name="Picture 8">
            <a:extLst>
              <a:ext uri="{FF2B5EF4-FFF2-40B4-BE49-F238E27FC236}">
                <a16:creationId xmlns:a16="http://schemas.microsoft.com/office/drawing/2014/main" id="{5335D838-E67F-CE07-8120-B31DF0770361}"/>
              </a:ext>
            </a:extLst>
          </p:cNvPr>
          <p:cNvPicPr>
            <a:picLocks noChangeAspect="1"/>
          </p:cNvPicPr>
          <p:nvPr/>
        </p:nvPicPr>
        <p:blipFill>
          <a:blip r:embed="rId2"/>
          <a:stretch>
            <a:fillRect/>
          </a:stretch>
        </p:blipFill>
        <p:spPr>
          <a:xfrm>
            <a:off x="1885746" y="966735"/>
            <a:ext cx="7894358" cy="5232307"/>
          </a:xfrm>
          <a:prstGeom prst="rect">
            <a:avLst/>
          </a:prstGeom>
        </p:spPr>
      </p:pic>
      <p:sp>
        <p:nvSpPr>
          <p:cNvPr id="13" name="TextBox 12">
            <a:extLst>
              <a:ext uri="{FF2B5EF4-FFF2-40B4-BE49-F238E27FC236}">
                <a16:creationId xmlns:a16="http://schemas.microsoft.com/office/drawing/2014/main" id="{7CC4B90D-2A62-6B83-6583-8148F9256971}"/>
              </a:ext>
            </a:extLst>
          </p:cNvPr>
          <p:cNvSpPr txBox="1"/>
          <p:nvPr/>
        </p:nvSpPr>
        <p:spPr>
          <a:xfrm>
            <a:off x="-21534" y="658958"/>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3 : Results </a:t>
            </a:r>
          </a:p>
        </p:txBody>
      </p:sp>
      <p:sp>
        <p:nvSpPr>
          <p:cNvPr id="15" name="TextBox 14">
            <a:extLst>
              <a:ext uri="{FF2B5EF4-FFF2-40B4-BE49-F238E27FC236}">
                <a16:creationId xmlns:a16="http://schemas.microsoft.com/office/drawing/2014/main" id="{72CB9826-856F-DB80-DA7E-101BCC6D17CB}"/>
              </a:ext>
            </a:extLst>
          </p:cNvPr>
          <p:cNvSpPr txBox="1"/>
          <p:nvPr/>
        </p:nvSpPr>
        <p:spPr>
          <a:xfrm>
            <a:off x="2189093" y="211236"/>
            <a:ext cx="7259706"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3 </a:t>
            </a:r>
            <a:endParaRPr lang="en-US" sz="2400" b="1" i="0" u="none" strike="noStrike" cap="none" dirty="0">
              <a:solidFill>
                <a:srgbClr val="000000"/>
              </a:solidFill>
              <a:latin typeface="Arial"/>
              <a:ea typeface="Arial"/>
              <a:cs typeface="Arial"/>
              <a:sym typeface="Arial"/>
            </a:endParaRPr>
          </a:p>
        </p:txBody>
      </p:sp>
      <p:sp>
        <p:nvSpPr>
          <p:cNvPr id="16" name="TextBox 15">
            <a:extLst>
              <a:ext uri="{FF2B5EF4-FFF2-40B4-BE49-F238E27FC236}">
                <a16:creationId xmlns:a16="http://schemas.microsoft.com/office/drawing/2014/main" id="{62725552-0E7A-70CC-5BF4-75E101C5DF4E}"/>
              </a:ext>
            </a:extLst>
          </p:cNvPr>
          <p:cNvSpPr txBox="1"/>
          <p:nvPr/>
        </p:nvSpPr>
        <p:spPr>
          <a:xfrm>
            <a:off x="5017604" y="6199042"/>
            <a:ext cx="3112605" cy="307777"/>
          </a:xfrm>
          <a:prstGeom prst="rect">
            <a:avLst/>
          </a:prstGeom>
          <a:noFill/>
        </p:spPr>
        <p:txBody>
          <a:bodyPr wrap="square" rtlCol="0">
            <a:spAutoFit/>
          </a:bodyPr>
          <a:lstStyle/>
          <a:p>
            <a:r>
              <a:rPr lang="en-US" b="1" dirty="0"/>
              <a:t>LATENCY DISTRIBUTION</a:t>
            </a:r>
            <a:endParaRPr lang="en-IN" b="1" dirty="0"/>
          </a:p>
        </p:txBody>
      </p:sp>
    </p:spTree>
    <p:extLst>
      <p:ext uri="{BB962C8B-B14F-4D97-AF65-F5344CB8AC3E}">
        <p14:creationId xmlns:p14="http://schemas.microsoft.com/office/powerpoint/2010/main" val="4122984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7475C0-E22A-79AC-47F8-56C2D957325F}"/>
              </a:ext>
            </a:extLst>
          </p:cNvPr>
          <p:cNvSpPr>
            <a:spLocks noGrp="1"/>
          </p:cNvSpPr>
          <p:nvPr>
            <p:ph type="pic" idx="2"/>
          </p:nvPr>
        </p:nvSpPr>
        <p:spPr/>
        <p:txBody>
          <a:bodyPr/>
          <a:lstStyle/>
          <a:p>
            <a:endParaRPr lang="en-IN"/>
          </a:p>
        </p:txBody>
      </p:sp>
      <p:sp>
        <p:nvSpPr>
          <p:cNvPr id="3" name="Slide Number Placeholder 2">
            <a:extLst>
              <a:ext uri="{FF2B5EF4-FFF2-40B4-BE49-F238E27FC236}">
                <a16:creationId xmlns:a16="http://schemas.microsoft.com/office/drawing/2014/main" id="{BC2CE2B3-34B6-B544-58DB-DE9DC78FDA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5" name="Picture 4">
            <a:extLst>
              <a:ext uri="{FF2B5EF4-FFF2-40B4-BE49-F238E27FC236}">
                <a16:creationId xmlns:a16="http://schemas.microsoft.com/office/drawing/2014/main" id="{DC936330-A17E-087C-0CC4-3D26CB22ECF4}"/>
              </a:ext>
            </a:extLst>
          </p:cNvPr>
          <p:cNvPicPr>
            <a:picLocks noChangeAspect="1"/>
          </p:cNvPicPr>
          <p:nvPr/>
        </p:nvPicPr>
        <p:blipFill>
          <a:blip r:embed="rId2"/>
          <a:stretch>
            <a:fillRect/>
          </a:stretch>
        </p:blipFill>
        <p:spPr>
          <a:xfrm>
            <a:off x="2069449" y="1113267"/>
            <a:ext cx="7666659" cy="5039055"/>
          </a:xfrm>
          <a:prstGeom prst="rect">
            <a:avLst/>
          </a:prstGeom>
        </p:spPr>
      </p:pic>
      <p:sp>
        <p:nvSpPr>
          <p:cNvPr id="7" name="TextBox 6">
            <a:extLst>
              <a:ext uri="{FF2B5EF4-FFF2-40B4-BE49-F238E27FC236}">
                <a16:creationId xmlns:a16="http://schemas.microsoft.com/office/drawing/2014/main" id="{C2E69DCE-5ED2-BA6B-B2AB-556704EBDC6B}"/>
              </a:ext>
            </a:extLst>
          </p:cNvPr>
          <p:cNvSpPr txBox="1"/>
          <p:nvPr/>
        </p:nvSpPr>
        <p:spPr>
          <a:xfrm>
            <a:off x="1806436" y="94968"/>
            <a:ext cx="7039390"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4 </a:t>
            </a:r>
            <a:endParaRPr lang="en-US" sz="2400" b="1"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BECBC38D-FAF7-1028-D441-72217EC1CA96}"/>
              </a:ext>
            </a:extLst>
          </p:cNvPr>
          <p:cNvSpPr txBox="1"/>
          <p:nvPr/>
        </p:nvSpPr>
        <p:spPr>
          <a:xfrm>
            <a:off x="116785" y="755583"/>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4 : Results </a:t>
            </a:r>
          </a:p>
        </p:txBody>
      </p:sp>
      <p:sp>
        <p:nvSpPr>
          <p:cNvPr id="12" name="TextBox 11">
            <a:extLst>
              <a:ext uri="{FF2B5EF4-FFF2-40B4-BE49-F238E27FC236}">
                <a16:creationId xmlns:a16="http://schemas.microsoft.com/office/drawing/2014/main" id="{0E2F0E5B-4006-A3C7-00D7-226AE4A3846C}"/>
              </a:ext>
            </a:extLst>
          </p:cNvPr>
          <p:cNvSpPr txBox="1"/>
          <p:nvPr/>
        </p:nvSpPr>
        <p:spPr>
          <a:xfrm>
            <a:off x="4443851" y="6168710"/>
            <a:ext cx="3304298" cy="307777"/>
          </a:xfrm>
          <a:prstGeom prst="rect">
            <a:avLst/>
          </a:prstGeom>
          <a:noFill/>
        </p:spPr>
        <p:txBody>
          <a:bodyPr wrap="square" rtlCol="0">
            <a:spAutoFit/>
          </a:bodyPr>
          <a:lstStyle/>
          <a:p>
            <a:r>
              <a:rPr lang="en-US" b="1" dirty="0"/>
              <a:t>COLLISION RISK OVER TIME </a:t>
            </a:r>
            <a:endParaRPr lang="en-IN" b="1" dirty="0"/>
          </a:p>
        </p:txBody>
      </p:sp>
    </p:spTree>
    <p:extLst>
      <p:ext uri="{BB962C8B-B14F-4D97-AF65-F5344CB8AC3E}">
        <p14:creationId xmlns:p14="http://schemas.microsoft.com/office/powerpoint/2010/main" val="4077558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9A8CA3A-EE39-51CC-3C1E-844E4A1EB10E}"/>
              </a:ext>
            </a:extLst>
          </p:cNvPr>
          <p:cNvSpPr>
            <a:spLocks noGrp="1"/>
          </p:cNvSpPr>
          <p:nvPr>
            <p:ph type="pic" idx="2"/>
          </p:nvPr>
        </p:nvSpPr>
        <p:spPr/>
        <p:txBody>
          <a:bodyPr/>
          <a:lstStyle/>
          <a:p>
            <a:endParaRPr lang="en-IN"/>
          </a:p>
        </p:txBody>
      </p:sp>
      <p:sp>
        <p:nvSpPr>
          <p:cNvPr id="3" name="Slide Number Placeholder 2">
            <a:extLst>
              <a:ext uri="{FF2B5EF4-FFF2-40B4-BE49-F238E27FC236}">
                <a16:creationId xmlns:a16="http://schemas.microsoft.com/office/drawing/2014/main" id="{FF0AEBDC-1EC5-FC27-7F00-DB2718085E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sp>
        <p:nvSpPr>
          <p:cNvPr id="5" name="TextBox 4">
            <a:extLst>
              <a:ext uri="{FF2B5EF4-FFF2-40B4-BE49-F238E27FC236}">
                <a16:creationId xmlns:a16="http://schemas.microsoft.com/office/drawing/2014/main" id="{1788BE0D-3EC4-2DA2-C843-0AA070B7BA30}"/>
              </a:ext>
            </a:extLst>
          </p:cNvPr>
          <p:cNvSpPr txBox="1"/>
          <p:nvPr/>
        </p:nvSpPr>
        <p:spPr>
          <a:xfrm>
            <a:off x="0" y="661121"/>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5 : Results </a:t>
            </a:r>
          </a:p>
        </p:txBody>
      </p:sp>
      <p:sp>
        <p:nvSpPr>
          <p:cNvPr id="7" name="TextBox 6">
            <a:extLst>
              <a:ext uri="{FF2B5EF4-FFF2-40B4-BE49-F238E27FC236}">
                <a16:creationId xmlns:a16="http://schemas.microsoft.com/office/drawing/2014/main" id="{5BAEA304-2A4B-70C9-4D93-9995325D71CE}"/>
              </a:ext>
            </a:extLst>
          </p:cNvPr>
          <p:cNvSpPr txBox="1"/>
          <p:nvPr/>
        </p:nvSpPr>
        <p:spPr>
          <a:xfrm>
            <a:off x="1677227" y="176672"/>
            <a:ext cx="6810789"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5 </a:t>
            </a:r>
            <a:endParaRPr lang="en-US" sz="2400" b="1" i="0" u="none" strike="noStrike" cap="none" dirty="0">
              <a:solidFill>
                <a:srgbClr val="000000"/>
              </a:solidFill>
              <a:latin typeface="Arial"/>
              <a:ea typeface="Arial"/>
              <a:cs typeface="Arial"/>
              <a:sym typeface="Arial"/>
            </a:endParaRPr>
          </a:p>
        </p:txBody>
      </p:sp>
      <p:pic>
        <p:nvPicPr>
          <p:cNvPr id="9" name="Picture 8">
            <a:extLst>
              <a:ext uri="{FF2B5EF4-FFF2-40B4-BE49-F238E27FC236}">
                <a16:creationId xmlns:a16="http://schemas.microsoft.com/office/drawing/2014/main" id="{2342D662-F78B-6CDD-889E-EADC54C33832}"/>
              </a:ext>
            </a:extLst>
          </p:cNvPr>
          <p:cNvPicPr>
            <a:picLocks noChangeAspect="1"/>
          </p:cNvPicPr>
          <p:nvPr/>
        </p:nvPicPr>
        <p:blipFill>
          <a:blip r:embed="rId2"/>
          <a:stretch>
            <a:fillRect/>
          </a:stretch>
        </p:blipFill>
        <p:spPr>
          <a:xfrm>
            <a:off x="1677227" y="1082994"/>
            <a:ext cx="7301821" cy="4835254"/>
          </a:xfrm>
          <a:prstGeom prst="rect">
            <a:avLst/>
          </a:prstGeom>
        </p:spPr>
      </p:pic>
      <p:sp>
        <p:nvSpPr>
          <p:cNvPr id="10" name="TextBox 9">
            <a:extLst>
              <a:ext uri="{FF2B5EF4-FFF2-40B4-BE49-F238E27FC236}">
                <a16:creationId xmlns:a16="http://schemas.microsoft.com/office/drawing/2014/main" id="{4A9B8269-94BE-955E-A013-15788554AF18}"/>
              </a:ext>
            </a:extLst>
          </p:cNvPr>
          <p:cNvSpPr txBox="1"/>
          <p:nvPr/>
        </p:nvSpPr>
        <p:spPr>
          <a:xfrm>
            <a:off x="4283765" y="6008912"/>
            <a:ext cx="2673626" cy="307777"/>
          </a:xfrm>
          <a:prstGeom prst="rect">
            <a:avLst/>
          </a:prstGeom>
          <a:noFill/>
        </p:spPr>
        <p:txBody>
          <a:bodyPr wrap="square" rtlCol="0">
            <a:spAutoFit/>
          </a:bodyPr>
          <a:lstStyle/>
          <a:p>
            <a:r>
              <a:rPr lang="en-US" b="1" dirty="0"/>
              <a:t>PDR PER VEHICLE </a:t>
            </a:r>
            <a:endParaRPr lang="en-IN" b="1" dirty="0"/>
          </a:p>
        </p:txBody>
      </p:sp>
    </p:spTree>
    <p:extLst>
      <p:ext uri="{BB962C8B-B14F-4D97-AF65-F5344CB8AC3E}">
        <p14:creationId xmlns:p14="http://schemas.microsoft.com/office/powerpoint/2010/main" val="43720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D1D2B-76AE-2B31-8F78-CA76E30DC866}"/>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2034667-819E-E4E8-6153-E9916D305D4A}"/>
              </a:ext>
            </a:extLst>
          </p:cNvPr>
          <p:cNvSpPr>
            <a:spLocks noGrp="1"/>
          </p:cNvSpPr>
          <p:nvPr>
            <p:ph type="pic" idx="2"/>
          </p:nvPr>
        </p:nvSpPr>
        <p:spPr/>
        <p:txBody>
          <a:bodyPr/>
          <a:lstStyle/>
          <a:p>
            <a:endParaRPr lang="en-IN"/>
          </a:p>
        </p:txBody>
      </p:sp>
      <p:sp>
        <p:nvSpPr>
          <p:cNvPr id="3" name="Slide Number Placeholder 2">
            <a:extLst>
              <a:ext uri="{FF2B5EF4-FFF2-40B4-BE49-F238E27FC236}">
                <a16:creationId xmlns:a16="http://schemas.microsoft.com/office/drawing/2014/main" id="{4148F423-72B4-F5D1-DFB2-E2A4880D73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5" name="TextBox 4">
            <a:extLst>
              <a:ext uri="{FF2B5EF4-FFF2-40B4-BE49-F238E27FC236}">
                <a16:creationId xmlns:a16="http://schemas.microsoft.com/office/drawing/2014/main" id="{0D872FAD-A31E-1296-2E1D-C2E48DD60C67}"/>
              </a:ext>
            </a:extLst>
          </p:cNvPr>
          <p:cNvSpPr txBox="1"/>
          <p:nvPr/>
        </p:nvSpPr>
        <p:spPr>
          <a:xfrm>
            <a:off x="0" y="661121"/>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6 : Results </a:t>
            </a:r>
          </a:p>
        </p:txBody>
      </p:sp>
      <p:sp>
        <p:nvSpPr>
          <p:cNvPr id="7" name="TextBox 6">
            <a:extLst>
              <a:ext uri="{FF2B5EF4-FFF2-40B4-BE49-F238E27FC236}">
                <a16:creationId xmlns:a16="http://schemas.microsoft.com/office/drawing/2014/main" id="{24C88DB6-9819-D191-6E7E-6D6D86EBC24E}"/>
              </a:ext>
            </a:extLst>
          </p:cNvPr>
          <p:cNvSpPr txBox="1"/>
          <p:nvPr/>
        </p:nvSpPr>
        <p:spPr>
          <a:xfrm>
            <a:off x="1677227" y="176672"/>
            <a:ext cx="7556225"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a:t>
            </a:r>
            <a:r>
              <a:rPr lang="en-US" sz="2400" b="1" dirty="0">
                <a:latin typeface="Montserrat"/>
                <a:ea typeface="Montserrat"/>
                <a:cs typeface="Montserrat"/>
                <a:sym typeface="Montserrat"/>
              </a:rPr>
              <a:t>6</a:t>
            </a:r>
            <a:endParaRPr lang="en-US" sz="2400" b="1" i="0" u="none" strike="noStrike" cap="none" dirty="0">
              <a:solidFill>
                <a:srgbClr val="000000"/>
              </a:solidFill>
              <a:latin typeface="Arial"/>
              <a:ea typeface="Arial"/>
              <a:cs typeface="Arial"/>
              <a:sym typeface="Arial"/>
            </a:endParaRPr>
          </a:p>
        </p:txBody>
      </p:sp>
      <p:pic>
        <p:nvPicPr>
          <p:cNvPr id="6" name="Picture 5">
            <a:extLst>
              <a:ext uri="{FF2B5EF4-FFF2-40B4-BE49-F238E27FC236}">
                <a16:creationId xmlns:a16="http://schemas.microsoft.com/office/drawing/2014/main" id="{C30C9B99-013B-7E78-F06E-7DC1B5885AC6}"/>
              </a:ext>
            </a:extLst>
          </p:cNvPr>
          <p:cNvPicPr>
            <a:picLocks noChangeAspect="1"/>
          </p:cNvPicPr>
          <p:nvPr/>
        </p:nvPicPr>
        <p:blipFill>
          <a:blip r:embed="rId2"/>
          <a:stretch>
            <a:fillRect/>
          </a:stretch>
        </p:blipFill>
        <p:spPr>
          <a:xfrm>
            <a:off x="1874155" y="1047426"/>
            <a:ext cx="7359298" cy="4921696"/>
          </a:xfrm>
          <a:prstGeom prst="rect">
            <a:avLst/>
          </a:prstGeom>
        </p:spPr>
      </p:pic>
      <p:sp>
        <p:nvSpPr>
          <p:cNvPr id="8" name="TextBox 7">
            <a:extLst>
              <a:ext uri="{FF2B5EF4-FFF2-40B4-BE49-F238E27FC236}">
                <a16:creationId xmlns:a16="http://schemas.microsoft.com/office/drawing/2014/main" id="{404B7E7F-F0D0-6B35-6C23-B2CEEAF3BAED}"/>
              </a:ext>
            </a:extLst>
          </p:cNvPr>
          <p:cNvSpPr txBox="1"/>
          <p:nvPr/>
        </p:nvSpPr>
        <p:spPr>
          <a:xfrm>
            <a:off x="4502425" y="5939941"/>
            <a:ext cx="3292337" cy="307777"/>
          </a:xfrm>
          <a:prstGeom prst="rect">
            <a:avLst/>
          </a:prstGeom>
          <a:noFill/>
        </p:spPr>
        <p:txBody>
          <a:bodyPr wrap="square" rtlCol="0">
            <a:spAutoFit/>
          </a:bodyPr>
          <a:lstStyle/>
          <a:p>
            <a:r>
              <a:rPr lang="en-US" b="1" dirty="0"/>
              <a:t>MEAN LATENCY PER VEHICLE </a:t>
            </a:r>
            <a:endParaRPr lang="en-IN" b="1" dirty="0"/>
          </a:p>
        </p:txBody>
      </p:sp>
    </p:spTree>
    <p:extLst>
      <p:ext uri="{BB962C8B-B14F-4D97-AF65-F5344CB8AC3E}">
        <p14:creationId xmlns:p14="http://schemas.microsoft.com/office/powerpoint/2010/main" val="3190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4B4B-8B68-3FF5-63CA-C47AA37316D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EB1B20E-FCF6-7519-9B3B-D48C24204221}"/>
              </a:ext>
            </a:extLst>
          </p:cNvPr>
          <p:cNvSpPr>
            <a:spLocks noGrp="1"/>
          </p:cNvSpPr>
          <p:nvPr>
            <p:ph type="pic" idx="2"/>
          </p:nvPr>
        </p:nvSpPr>
        <p:spPr/>
        <p:txBody>
          <a:bodyPr/>
          <a:lstStyle/>
          <a:p>
            <a:endParaRPr lang="en-IN" dirty="0"/>
          </a:p>
        </p:txBody>
      </p:sp>
      <p:sp>
        <p:nvSpPr>
          <p:cNvPr id="3" name="Slide Number Placeholder 2">
            <a:extLst>
              <a:ext uri="{FF2B5EF4-FFF2-40B4-BE49-F238E27FC236}">
                <a16:creationId xmlns:a16="http://schemas.microsoft.com/office/drawing/2014/main" id="{0F89D773-6916-BDE5-6606-E2567583CF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5" name="TextBox 4">
            <a:extLst>
              <a:ext uri="{FF2B5EF4-FFF2-40B4-BE49-F238E27FC236}">
                <a16:creationId xmlns:a16="http://schemas.microsoft.com/office/drawing/2014/main" id="{CEDE5784-D2AF-0D17-4AC0-0380772E20C6}"/>
              </a:ext>
            </a:extLst>
          </p:cNvPr>
          <p:cNvSpPr txBox="1"/>
          <p:nvPr/>
        </p:nvSpPr>
        <p:spPr>
          <a:xfrm>
            <a:off x="0" y="661121"/>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7 : Results </a:t>
            </a:r>
          </a:p>
        </p:txBody>
      </p:sp>
      <p:sp>
        <p:nvSpPr>
          <p:cNvPr id="7" name="TextBox 6">
            <a:extLst>
              <a:ext uri="{FF2B5EF4-FFF2-40B4-BE49-F238E27FC236}">
                <a16:creationId xmlns:a16="http://schemas.microsoft.com/office/drawing/2014/main" id="{6DC8CB9E-D0AE-2722-A535-3BF8C2213022}"/>
              </a:ext>
            </a:extLst>
          </p:cNvPr>
          <p:cNvSpPr txBox="1"/>
          <p:nvPr/>
        </p:nvSpPr>
        <p:spPr>
          <a:xfrm>
            <a:off x="1677227" y="176672"/>
            <a:ext cx="7089085"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7 </a:t>
            </a:r>
            <a:endParaRPr lang="en-US" sz="2400" b="1" i="0" u="none" strike="noStrike" cap="none" dirty="0">
              <a:solidFill>
                <a:srgbClr val="000000"/>
              </a:solidFill>
              <a:latin typeface="Arial"/>
              <a:ea typeface="Arial"/>
              <a:cs typeface="Arial"/>
              <a:sym typeface="Arial"/>
            </a:endParaRPr>
          </a:p>
        </p:txBody>
      </p:sp>
      <p:pic>
        <p:nvPicPr>
          <p:cNvPr id="6" name="Picture 5">
            <a:extLst>
              <a:ext uri="{FF2B5EF4-FFF2-40B4-BE49-F238E27FC236}">
                <a16:creationId xmlns:a16="http://schemas.microsoft.com/office/drawing/2014/main" id="{F1C30F04-2938-A1BE-779B-74634206F618}"/>
              </a:ext>
            </a:extLst>
          </p:cNvPr>
          <p:cNvPicPr>
            <a:picLocks noChangeAspect="1"/>
          </p:cNvPicPr>
          <p:nvPr/>
        </p:nvPicPr>
        <p:blipFill>
          <a:blip r:embed="rId2"/>
          <a:stretch>
            <a:fillRect/>
          </a:stretch>
        </p:blipFill>
        <p:spPr>
          <a:xfrm>
            <a:off x="1757644" y="968898"/>
            <a:ext cx="5294189" cy="4864378"/>
          </a:xfrm>
          <a:prstGeom prst="rect">
            <a:avLst/>
          </a:prstGeom>
        </p:spPr>
      </p:pic>
      <p:sp>
        <p:nvSpPr>
          <p:cNvPr id="10" name="TextBox 9">
            <a:extLst>
              <a:ext uri="{FF2B5EF4-FFF2-40B4-BE49-F238E27FC236}">
                <a16:creationId xmlns:a16="http://schemas.microsoft.com/office/drawing/2014/main" id="{9F67E3D7-E0DC-BD69-762D-AD699CBAAB2C}"/>
              </a:ext>
            </a:extLst>
          </p:cNvPr>
          <p:cNvSpPr txBox="1"/>
          <p:nvPr/>
        </p:nvSpPr>
        <p:spPr>
          <a:xfrm>
            <a:off x="3538329" y="5889102"/>
            <a:ext cx="2102127" cy="307777"/>
          </a:xfrm>
          <a:prstGeom prst="rect">
            <a:avLst/>
          </a:prstGeom>
          <a:noFill/>
        </p:spPr>
        <p:txBody>
          <a:bodyPr wrap="square" rtlCol="0">
            <a:spAutoFit/>
          </a:bodyPr>
          <a:lstStyle/>
          <a:p>
            <a:r>
              <a:rPr lang="en-US" b="1" dirty="0"/>
              <a:t>LATENCY HEATMAP</a:t>
            </a:r>
            <a:endParaRPr lang="en-IN" b="1" dirty="0"/>
          </a:p>
        </p:txBody>
      </p:sp>
    </p:spTree>
    <p:extLst>
      <p:ext uri="{BB962C8B-B14F-4D97-AF65-F5344CB8AC3E}">
        <p14:creationId xmlns:p14="http://schemas.microsoft.com/office/powerpoint/2010/main" val="2089347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9FA6-FA33-4B60-1F22-28D7F31FF142}"/>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3540D8F-A690-250D-D856-4E25402DEBE0}"/>
              </a:ext>
            </a:extLst>
          </p:cNvPr>
          <p:cNvSpPr>
            <a:spLocks noGrp="1"/>
          </p:cNvSpPr>
          <p:nvPr>
            <p:ph type="pic" idx="2"/>
          </p:nvPr>
        </p:nvSpPr>
        <p:spPr/>
        <p:txBody>
          <a:bodyPr/>
          <a:lstStyle/>
          <a:p>
            <a:endParaRPr lang="en-IN"/>
          </a:p>
        </p:txBody>
      </p:sp>
      <p:sp>
        <p:nvSpPr>
          <p:cNvPr id="3" name="Slide Number Placeholder 2">
            <a:extLst>
              <a:ext uri="{FF2B5EF4-FFF2-40B4-BE49-F238E27FC236}">
                <a16:creationId xmlns:a16="http://schemas.microsoft.com/office/drawing/2014/main" id="{9CCEC20A-AEDB-68E7-D5F2-EE2440D933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dirty="0"/>
          </a:p>
        </p:txBody>
      </p:sp>
      <p:sp>
        <p:nvSpPr>
          <p:cNvPr id="5" name="TextBox 4">
            <a:extLst>
              <a:ext uri="{FF2B5EF4-FFF2-40B4-BE49-F238E27FC236}">
                <a16:creationId xmlns:a16="http://schemas.microsoft.com/office/drawing/2014/main" id="{5E5C6846-4C21-4381-8410-2A595959A8EC}"/>
              </a:ext>
            </a:extLst>
          </p:cNvPr>
          <p:cNvSpPr txBox="1"/>
          <p:nvPr/>
        </p:nvSpPr>
        <p:spPr>
          <a:xfrm>
            <a:off x="0" y="661121"/>
            <a:ext cx="6117534" cy="307777"/>
          </a:xfrm>
          <a:prstGeom prst="rect">
            <a:avLst/>
          </a:prstGeom>
          <a:noFill/>
        </p:spPr>
        <p:txBody>
          <a:bodyPr wrap="square">
            <a:sp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8 : Results </a:t>
            </a:r>
          </a:p>
        </p:txBody>
      </p:sp>
      <p:sp>
        <p:nvSpPr>
          <p:cNvPr id="7" name="TextBox 6">
            <a:extLst>
              <a:ext uri="{FF2B5EF4-FFF2-40B4-BE49-F238E27FC236}">
                <a16:creationId xmlns:a16="http://schemas.microsoft.com/office/drawing/2014/main" id="{28FE7E68-A96A-E9D6-F09D-5A964A7D9248}"/>
              </a:ext>
            </a:extLst>
          </p:cNvPr>
          <p:cNvSpPr txBox="1"/>
          <p:nvPr/>
        </p:nvSpPr>
        <p:spPr>
          <a:xfrm>
            <a:off x="1677227" y="176672"/>
            <a:ext cx="7357257"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a:t>
            </a:r>
            <a:r>
              <a:rPr lang="en-US" sz="2400" b="1" dirty="0">
                <a:latin typeface="Montserrat"/>
                <a:ea typeface="Montserrat"/>
                <a:cs typeface="Montserrat"/>
                <a:sym typeface="Montserrat"/>
              </a:rPr>
              <a:t>8</a:t>
            </a:r>
            <a:endParaRPr lang="en-US" sz="2400" b="1" i="0" u="none" strike="noStrike" cap="none" dirty="0">
              <a:solidFill>
                <a:srgbClr val="000000"/>
              </a:solidFill>
              <a:latin typeface="Arial"/>
              <a:ea typeface="Arial"/>
              <a:cs typeface="Arial"/>
              <a:sym typeface="Arial"/>
            </a:endParaRPr>
          </a:p>
        </p:txBody>
      </p:sp>
      <p:pic>
        <p:nvPicPr>
          <p:cNvPr id="6" name="Picture 5">
            <a:extLst>
              <a:ext uri="{FF2B5EF4-FFF2-40B4-BE49-F238E27FC236}">
                <a16:creationId xmlns:a16="http://schemas.microsoft.com/office/drawing/2014/main" id="{50711ED3-4F07-A98A-B93E-47115237CA0F}"/>
              </a:ext>
            </a:extLst>
          </p:cNvPr>
          <p:cNvPicPr>
            <a:picLocks noChangeAspect="1"/>
          </p:cNvPicPr>
          <p:nvPr/>
        </p:nvPicPr>
        <p:blipFill>
          <a:blip r:embed="rId2"/>
          <a:stretch>
            <a:fillRect/>
          </a:stretch>
        </p:blipFill>
        <p:spPr>
          <a:xfrm>
            <a:off x="1834398" y="968898"/>
            <a:ext cx="7357258" cy="4734409"/>
          </a:xfrm>
          <a:prstGeom prst="rect">
            <a:avLst/>
          </a:prstGeom>
        </p:spPr>
      </p:pic>
      <p:sp>
        <p:nvSpPr>
          <p:cNvPr id="8" name="TextBox 7">
            <a:extLst>
              <a:ext uri="{FF2B5EF4-FFF2-40B4-BE49-F238E27FC236}">
                <a16:creationId xmlns:a16="http://schemas.microsoft.com/office/drawing/2014/main" id="{660ADE90-8C99-9D7A-1CCA-061DBDC29C4B}"/>
              </a:ext>
            </a:extLst>
          </p:cNvPr>
          <p:cNvSpPr txBox="1"/>
          <p:nvPr/>
        </p:nvSpPr>
        <p:spPr>
          <a:xfrm>
            <a:off x="4086761" y="5760709"/>
            <a:ext cx="2852531" cy="307777"/>
          </a:xfrm>
          <a:prstGeom prst="rect">
            <a:avLst/>
          </a:prstGeom>
          <a:noFill/>
        </p:spPr>
        <p:txBody>
          <a:bodyPr wrap="square" rtlCol="0">
            <a:spAutoFit/>
          </a:bodyPr>
          <a:lstStyle/>
          <a:p>
            <a:r>
              <a:rPr lang="en-US" dirty="0"/>
              <a:t>SAFETY RISK METRICS </a:t>
            </a:r>
            <a:endParaRPr lang="en-IN" dirty="0"/>
          </a:p>
        </p:txBody>
      </p:sp>
    </p:spTree>
    <p:extLst>
      <p:ext uri="{BB962C8B-B14F-4D97-AF65-F5344CB8AC3E}">
        <p14:creationId xmlns:p14="http://schemas.microsoft.com/office/powerpoint/2010/main" val="3785426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dirty="0"/>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9</a:t>
            </a:r>
            <a:r>
              <a:rPr lang="en-US" sz="2400" b="1" dirty="0">
                <a:latin typeface="Montserrat"/>
                <a:ea typeface="Montserrat"/>
                <a:cs typeface="Montserrat"/>
                <a:sym typeface="Montserrat"/>
              </a:rPr>
              <a:t>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 Results + Validation against the use cases and test cases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6" name="Picture 5">
            <a:extLst>
              <a:ext uri="{FF2B5EF4-FFF2-40B4-BE49-F238E27FC236}">
                <a16:creationId xmlns:a16="http://schemas.microsoft.com/office/drawing/2014/main" id="{B04063F3-45EB-7357-3B4D-EC9588C9F07C}"/>
              </a:ext>
            </a:extLst>
          </p:cNvPr>
          <p:cNvPicPr>
            <a:picLocks noChangeAspect="1"/>
          </p:cNvPicPr>
          <p:nvPr/>
        </p:nvPicPr>
        <p:blipFill>
          <a:blip r:embed="rId2"/>
          <a:stretch>
            <a:fillRect/>
          </a:stretch>
        </p:blipFill>
        <p:spPr>
          <a:xfrm>
            <a:off x="611737" y="1640806"/>
            <a:ext cx="10778505" cy="3337849"/>
          </a:xfrm>
          <a:prstGeom prst="rect">
            <a:avLst/>
          </a:prstGeom>
        </p:spPr>
      </p:pic>
      <p:sp>
        <p:nvSpPr>
          <p:cNvPr id="7" name="TextBox 6">
            <a:extLst>
              <a:ext uri="{FF2B5EF4-FFF2-40B4-BE49-F238E27FC236}">
                <a16:creationId xmlns:a16="http://schemas.microsoft.com/office/drawing/2014/main" id="{20699889-5CB0-7DA0-B4F0-042EB7F87FF1}"/>
              </a:ext>
            </a:extLst>
          </p:cNvPr>
          <p:cNvSpPr txBox="1"/>
          <p:nvPr/>
        </p:nvSpPr>
        <p:spPr>
          <a:xfrm>
            <a:off x="1590262" y="5217194"/>
            <a:ext cx="9868407" cy="307777"/>
          </a:xfrm>
          <a:prstGeom prst="rect">
            <a:avLst/>
          </a:prstGeom>
          <a:noFill/>
        </p:spPr>
        <p:txBody>
          <a:bodyPr wrap="none" rtlCol="0">
            <a:spAutoFit/>
          </a:bodyPr>
          <a:lstStyle/>
          <a:p>
            <a:r>
              <a:rPr lang="en-IN" b="1" dirty="0"/>
              <a:t>TRAFFIC VOLUME                                           AVERAGE SPEED(KM/H)                                CONGESTION LEVEL(%)</a:t>
            </a:r>
          </a:p>
        </p:txBody>
      </p:sp>
    </p:spTree>
    <p:extLst>
      <p:ext uri="{BB962C8B-B14F-4D97-AF65-F5344CB8AC3E}">
        <p14:creationId xmlns:p14="http://schemas.microsoft.com/office/powerpoint/2010/main" val="3238600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CEB9D240-708A-3DE6-61D8-739F1F8A3F42}"/>
              </a:ext>
            </a:extLst>
          </p:cNvPr>
          <p:cNvPicPr>
            <a:picLocks noGrp="1" noChangeAspect="1"/>
          </p:cNvPicPr>
          <p:nvPr>
            <p:ph type="pic" idx="2"/>
          </p:nvPr>
        </p:nvPicPr>
        <p:blipFill>
          <a:blip r:embed="rId2"/>
          <a:srcRect l="3657" r="3657"/>
          <a:stretch>
            <a:fillRect/>
          </a:stretch>
        </p:blipFill>
        <p:spPr>
          <a:xfrm>
            <a:off x="-1" y="688258"/>
            <a:ext cx="12191999" cy="6169742"/>
          </a:xfrm>
        </p:spPr>
      </p:pic>
      <p:sp>
        <p:nvSpPr>
          <p:cNvPr id="3" name="Slide Number Placeholder 2">
            <a:extLst>
              <a:ext uri="{FF2B5EF4-FFF2-40B4-BE49-F238E27FC236}">
                <a16:creationId xmlns:a16="http://schemas.microsoft.com/office/drawing/2014/main" id="{94763A9D-B703-133D-2893-4A4DD7FAA3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dirty="0"/>
          </a:p>
        </p:txBody>
      </p:sp>
      <p:sp>
        <p:nvSpPr>
          <p:cNvPr id="6" name="TextBox 5">
            <a:extLst>
              <a:ext uri="{FF2B5EF4-FFF2-40B4-BE49-F238E27FC236}">
                <a16:creationId xmlns:a16="http://schemas.microsoft.com/office/drawing/2014/main" id="{7634F332-9DB9-09D2-2E51-1B51CB14A96D}"/>
              </a:ext>
            </a:extLst>
          </p:cNvPr>
          <p:cNvSpPr txBox="1"/>
          <p:nvPr/>
        </p:nvSpPr>
        <p:spPr>
          <a:xfrm>
            <a:off x="3539613" y="226593"/>
            <a:ext cx="5450531" cy="461665"/>
          </a:xfrm>
          <a:prstGeom prst="rect">
            <a:avLst/>
          </a:prstGeom>
          <a:noFill/>
        </p:spPr>
        <p:txBody>
          <a:bodyPr wrap="none" rtlCol="0">
            <a:spAutoFit/>
          </a:bodyPr>
          <a:lstStyle/>
          <a:p>
            <a:r>
              <a:rPr lang="en-IN" sz="2400" b="1" dirty="0"/>
              <a:t>V2V &amp; V2I Architecture Applications</a:t>
            </a:r>
          </a:p>
        </p:txBody>
      </p:sp>
    </p:spTree>
    <p:extLst>
      <p:ext uri="{BB962C8B-B14F-4D97-AF65-F5344CB8AC3E}">
        <p14:creationId xmlns:p14="http://schemas.microsoft.com/office/powerpoint/2010/main" val="4126616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8E32DB-3B8A-E717-A1FB-6D1FC81575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dirty="0"/>
          </a:p>
        </p:txBody>
      </p:sp>
      <p:sp>
        <p:nvSpPr>
          <p:cNvPr id="5" name="TextBox 4">
            <a:extLst>
              <a:ext uri="{FF2B5EF4-FFF2-40B4-BE49-F238E27FC236}">
                <a16:creationId xmlns:a16="http://schemas.microsoft.com/office/drawing/2014/main" id="{E4E76BEE-E5E0-0260-826C-C68C618A4C49}"/>
              </a:ext>
            </a:extLst>
          </p:cNvPr>
          <p:cNvSpPr txBox="1"/>
          <p:nvPr/>
        </p:nvSpPr>
        <p:spPr>
          <a:xfrm>
            <a:off x="914400" y="2413338"/>
            <a:ext cx="9253330" cy="3785652"/>
          </a:xfrm>
          <a:prstGeom prst="rect">
            <a:avLst/>
          </a:prstGeom>
          <a:noFill/>
        </p:spPr>
        <p:txBody>
          <a:bodyPr wrap="square">
            <a:spAutoFit/>
          </a:bodyPr>
          <a:lstStyle/>
          <a:p>
            <a:pPr algn="just"/>
            <a:r>
              <a:rPr lang="en-IN" sz="2400" dirty="0"/>
              <a:t>Vehicle-to-vehicle (V2V) communication using 5G enables ultra-low latency, high bandwidth, and highly reliable data exchange between connected vehicles. This empowers real-time safety applications—such as collision avoidance and cooperative adaptive cruise control—and supports autonomous driving by ensuring vehicles can instantly share and respond to road, traffic, and hazard information. 5G’s high capacity and seamless connectivity also enhance driving accuracy, road safety, and overall transportation efficiency, representing a major advancement over previous wireless technologies.</a:t>
            </a:r>
          </a:p>
        </p:txBody>
      </p:sp>
      <p:sp>
        <p:nvSpPr>
          <p:cNvPr id="7" name="TextBox 6">
            <a:extLst>
              <a:ext uri="{FF2B5EF4-FFF2-40B4-BE49-F238E27FC236}">
                <a16:creationId xmlns:a16="http://schemas.microsoft.com/office/drawing/2014/main" id="{CF6E8430-CA89-8DDA-CA07-C0DA0604AAEA}"/>
              </a:ext>
            </a:extLst>
          </p:cNvPr>
          <p:cNvSpPr txBox="1"/>
          <p:nvPr/>
        </p:nvSpPr>
        <p:spPr>
          <a:xfrm>
            <a:off x="762829" y="1555641"/>
            <a:ext cx="6097656" cy="523220"/>
          </a:xfrm>
          <a:prstGeom prst="rect">
            <a:avLst/>
          </a:prstGeom>
          <a:noFill/>
        </p:spPr>
        <p:txBody>
          <a:bodyPr wrap="square">
            <a:spAutoFit/>
          </a:bodyPr>
          <a:lstStyle/>
          <a:p>
            <a:r>
              <a:rPr lang="en-US" sz="2800" b="1" dirty="0"/>
              <a:t>CONCLUSION:</a:t>
            </a:r>
            <a:endParaRPr lang="en-IN" sz="2800" b="1" dirty="0"/>
          </a:p>
        </p:txBody>
      </p:sp>
    </p:spTree>
    <p:extLst>
      <p:ext uri="{BB962C8B-B14F-4D97-AF65-F5344CB8AC3E}">
        <p14:creationId xmlns:p14="http://schemas.microsoft.com/office/powerpoint/2010/main" val="383836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7610-CD26-6D42-4742-956FD63E9804}"/>
              </a:ext>
            </a:extLst>
          </p:cNvPr>
          <p:cNvSpPr>
            <a:spLocks noGrp="1"/>
          </p:cNvSpPr>
          <p:nvPr>
            <p:ph type="ctrTitle"/>
          </p:nvPr>
        </p:nvSpPr>
        <p:spPr>
          <a:xfrm>
            <a:off x="235226" y="248477"/>
            <a:ext cx="8375374" cy="714383"/>
          </a:xfrm>
        </p:spPr>
        <p:txBody>
          <a:bodyPr>
            <a:normAutofit/>
          </a:bodyPr>
          <a:lstStyle/>
          <a:p>
            <a:r>
              <a:rPr lang="en-US" sz="2800" b="1" dirty="0">
                <a:latin typeface="+mn-lt"/>
              </a:rPr>
              <a:t>Future Work – V2I Communication Using 5G</a:t>
            </a:r>
            <a:endParaRPr lang="en-IN" sz="2800" b="1" dirty="0">
              <a:latin typeface="+mn-lt"/>
            </a:endParaRPr>
          </a:p>
        </p:txBody>
      </p:sp>
      <p:sp>
        <p:nvSpPr>
          <p:cNvPr id="3" name="Subtitle 2">
            <a:extLst>
              <a:ext uri="{FF2B5EF4-FFF2-40B4-BE49-F238E27FC236}">
                <a16:creationId xmlns:a16="http://schemas.microsoft.com/office/drawing/2014/main" id="{8973E77C-AE3B-426C-792F-779BFAFB73B7}"/>
              </a:ext>
            </a:extLst>
          </p:cNvPr>
          <p:cNvSpPr>
            <a:spLocks noGrp="1"/>
          </p:cNvSpPr>
          <p:nvPr>
            <p:ph type="subTitle" idx="1"/>
          </p:nvPr>
        </p:nvSpPr>
        <p:spPr>
          <a:xfrm>
            <a:off x="337929" y="1480929"/>
            <a:ext cx="11102009" cy="5019261"/>
          </a:xfrm>
        </p:spPr>
        <p:txBody>
          <a:bodyPr>
            <a:normAutofit fontScale="92500" lnSpcReduction="20000"/>
          </a:bodyPr>
          <a:lstStyle/>
          <a:p>
            <a:pPr algn="just"/>
            <a:r>
              <a:rPr lang="en-US" dirty="0">
                <a:latin typeface="+mn-lt"/>
              </a:rPr>
              <a:t>• Deployment of 5G-Enabled Roadside Units (RSUs)</a:t>
            </a:r>
          </a:p>
          <a:p>
            <a:pPr algn="just"/>
            <a:r>
              <a:rPr lang="en-US" dirty="0">
                <a:latin typeface="+mn-lt"/>
              </a:rPr>
              <a:t>Enable real-time traffic alerts, hazard warnings, and seamless vehicle–infrastructure connectivity.</a:t>
            </a:r>
          </a:p>
          <a:p>
            <a:pPr algn="just"/>
            <a:r>
              <a:rPr lang="en-US" dirty="0">
                <a:latin typeface="+mn-lt"/>
              </a:rPr>
              <a:t>• Integration of MEC (Edge Computing)</a:t>
            </a:r>
          </a:p>
          <a:p>
            <a:pPr algn="just"/>
            <a:r>
              <a:rPr lang="en-US" dirty="0">
                <a:latin typeface="+mn-lt"/>
              </a:rPr>
              <a:t>Use edge servers near RSUs for ultra-low latency tasks such as cooperative perception and traffic prediction.</a:t>
            </a:r>
          </a:p>
          <a:p>
            <a:pPr algn="just"/>
            <a:r>
              <a:rPr lang="en-US" dirty="0">
                <a:latin typeface="+mn-lt"/>
              </a:rPr>
              <a:t>• Beamforming for High-Speed V2I</a:t>
            </a:r>
          </a:p>
          <a:p>
            <a:pPr algn="just"/>
            <a:r>
              <a:rPr lang="en-US" dirty="0">
                <a:latin typeface="+mn-lt"/>
              </a:rPr>
              <a:t>Explore 28/60 GHz links to support high-data-rate services like HD map updates and sensor sharing.</a:t>
            </a:r>
          </a:p>
          <a:p>
            <a:pPr algn="just"/>
            <a:r>
              <a:rPr lang="en-US" dirty="0">
                <a:latin typeface="+mn-lt"/>
              </a:rPr>
              <a:t>• AI-Based Resource Allocation &amp; Congestion Prediction</a:t>
            </a:r>
          </a:p>
          <a:p>
            <a:pPr algn="just"/>
            <a:r>
              <a:rPr lang="en-US" dirty="0">
                <a:latin typeface="+mn-lt"/>
              </a:rPr>
              <a:t>Apply machine learning to optimize RB allocation, reduce interference, and improve V2I communication stability.</a:t>
            </a:r>
          </a:p>
          <a:p>
            <a:pPr algn="just"/>
            <a:r>
              <a:rPr lang="en-US" dirty="0">
                <a:latin typeface="+mn-lt"/>
              </a:rPr>
              <a:t>• Enhanced Security &amp; Authentication</a:t>
            </a:r>
          </a:p>
          <a:p>
            <a:pPr algn="just"/>
            <a:r>
              <a:rPr lang="en-US" dirty="0">
                <a:latin typeface="+mn-lt"/>
              </a:rPr>
              <a:t>Study 5G security features to protect V2I links from spoofing, jamming, and unauthorized access.</a:t>
            </a:r>
          </a:p>
          <a:p>
            <a:pPr algn="just"/>
            <a:endParaRPr lang="en-IN" dirty="0"/>
          </a:p>
        </p:txBody>
      </p:sp>
      <p:sp>
        <p:nvSpPr>
          <p:cNvPr id="4" name="Slide Number Placeholder 3">
            <a:extLst>
              <a:ext uri="{FF2B5EF4-FFF2-40B4-BE49-F238E27FC236}">
                <a16:creationId xmlns:a16="http://schemas.microsoft.com/office/drawing/2014/main" id="{C4363B34-247D-16B2-B245-63E2919EA6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dirty="0"/>
          </a:p>
        </p:txBody>
      </p:sp>
    </p:spTree>
    <p:extLst>
      <p:ext uri="{BB962C8B-B14F-4D97-AF65-F5344CB8AC3E}">
        <p14:creationId xmlns:p14="http://schemas.microsoft.com/office/powerpoint/2010/main" val="3043736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D994DB-6DA7-E687-8925-7D18A3795342}"/>
              </a:ext>
            </a:extLst>
          </p:cNvPr>
          <p:cNvSpPr txBox="1"/>
          <p:nvPr/>
        </p:nvSpPr>
        <p:spPr>
          <a:xfrm>
            <a:off x="526774" y="1351508"/>
            <a:ext cx="9859618" cy="4401205"/>
          </a:xfrm>
          <a:prstGeom prst="rect">
            <a:avLst/>
          </a:prstGeom>
          <a:noFill/>
        </p:spPr>
        <p:txBody>
          <a:bodyPr wrap="square">
            <a:spAutoFit/>
          </a:bodyPr>
          <a:lstStyle/>
          <a:p>
            <a:pPr>
              <a:buNone/>
            </a:pPr>
            <a:r>
              <a:rPr lang="en-IN" b="1" dirty="0"/>
              <a:t>[1] 3GPP TR 22.886 (V16.2.0)</a:t>
            </a:r>
          </a:p>
          <a:p>
            <a:pPr>
              <a:buNone/>
            </a:pPr>
            <a:r>
              <a:rPr lang="en-IN" i="1" dirty="0"/>
              <a:t>“Study on enhancement of 3GPP Support for 5G V2X Services.”</a:t>
            </a:r>
            <a:br>
              <a:rPr lang="en-IN" dirty="0"/>
            </a:br>
            <a:r>
              <a:rPr lang="en-IN" dirty="0"/>
              <a:t>3rd Generation Partnership Project, 2018.</a:t>
            </a:r>
            <a:br>
              <a:rPr lang="en-IN" dirty="0"/>
            </a:br>
            <a:r>
              <a:rPr lang="en-IN" dirty="0"/>
              <a:t>(Defines 5G NR V2X features, </a:t>
            </a:r>
            <a:r>
              <a:rPr lang="en-IN" dirty="0" err="1"/>
              <a:t>sidelink</a:t>
            </a:r>
            <a:r>
              <a:rPr lang="en-IN" dirty="0"/>
              <a:t>, latency, reliability.)</a:t>
            </a:r>
          </a:p>
          <a:p>
            <a:pPr>
              <a:buNone/>
            </a:pPr>
            <a:r>
              <a:rPr lang="en-IN" b="1" dirty="0"/>
              <a:t>[2] 3GPP TS 38.300 (V16 Series)</a:t>
            </a:r>
          </a:p>
          <a:p>
            <a:pPr>
              <a:buNone/>
            </a:pPr>
            <a:r>
              <a:rPr lang="en-IN" i="1" dirty="0"/>
              <a:t>“NR; Overall description; Stage-2.”</a:t>
            </a:r>
            <a:br>
              <a:rPr lang="en-IN" dirty="0"/>
            </a:br>
            <a:r>
              <a:rPr lang="en-IN" dirty="0"/>
              <a:t>3GPP, 2020.</a:t>
            </a:r>
            <a:br>
              <a:rPr lang="en-IN" dirty="0"/>
            </a:br>
            <a:r>
              <a:rPr lang="en-IN" dirty="0"/>
              <a:t>(Core specifications for 5G NR physical layer, numerology, slots.)</a:t>
            </a:r>
          </a:p>
          <a:p>
            <a:pPr>
              <a:buNone/>
            </a:pPr>
            <a:r>
              <a:rPr lang="en-IN" b="1" dirty="0"/>
              <a:t>[3] </a:t>
            </a:r>
            <a:r>
              <a:rPr lang="en-IN" b="1" dirty="0" err="1"/>
              <a:t>Shanzhi</a:t>
            </a:r>
            <a:r>
              <a:rPr lang="en-IN" b="1" dirty="0"/>
              <a:t> Chen, Jing Zhao, et al.</a:t>
            </a:r>
          </a:p>
          <a:p>
            <a:pPr>
              <a:buNone/>
            </a:pPr>
            <a:r>
              <a:rPr lang="en-IN" i="1" dirty="0"/>
              <a:t>“A Vision of C-V2X: Technologies, Field Testing, and Challenges.”</a:t>
            </a:r>
            <a:br>
              <a:rPr lang="en-IN" dirty="0"/>
            </a:br>
            <a:r>
              <a:rPr lang="en-IN" dirty="0"/>
              <a:t>IEEE Internet of Things Journal, 2020.</a:t>
            </a:r>
            <a:br>
              <a:rPr lang="en-IN" dirty="0"/>
            </a:br>
            <a:r>
              <a:rPr lang="en-IN" dirty="0"/>
              <a:t>(Explains V2V/V2I over cellular networks including 5G and </a:t>
            </a:r>
            <a:r>
              <a:rPr lang="en-IN" dirty="0" err="1"/>
              <a:t>sidelink</a:t>
            </a:r>
            <a:r>
              <a:rPr lang="en-IN" dirty="0"/>
              <a:t>.)</a:t>
            </a:r>
          </a:p>
          <a:p>
            <a:pPr>
              <a:buNone/>
            </a:pPr>
            <a:r>
              <a:rPr lang="en-IN" b="1" dirty="0"/>
              <a:t>[4] H. Seo, K. Lee, et al.</a:t>
            </a:r>
          </a:p>
          <a:p>
            <a:pPr>
              <a:buNone/>
            </a:pPr>
            <a:r>
              <a:rPr lang="en-IN" i="1" dirty="0"/>
              <a:t>“LTE Evolution for Vehicle-to-Everything (V2X) Services.”</a:t>
            </a:r>
            <a:br>
              <a:rPr lang="en-IN" dirty="0"/>
            </a:br>
            <a:r>
              <a:rPr lang="en-IN" dirty="0"/>
              <a:t>IEEE Communications Magazine, 2016.</a:t>
            </a:r>
            <a:br>
              <a:rPr lang="en-IN" dirty="0"/>
            </a:br>
            <a:r>
              <a:rPr lang="en-IN" dirty="0"/>
              <a:t>(Foundation of V2X architecture; used as baseline before 5G NR.)</a:t>
            </a:r>
          </a:p>
          <a:p>
            <a:pPr>
              <a:buNone/>
            </a:pPr>
            <a:r>
              <a:rPr lang="en-IN" b="1" dirty="0"/>
              <a:t>[5] 5G Automotive Association (5GAA)</a:t>
            </a:r>
          </a:p>
          <a:p>
            <a:pPr>
              <a:buNone/>
            </a:pPr>
            <a:r>
              <a:rPr lang="en-IN" i="1" dirty="0"/>
              <a:t>“Toward Fully Connected Vehicles: 5G-V2X.”</a:t>
            </a:r>
            <a:br>
              <a:rPr lang="en-IN" dirty="0"/>
            </a:br>
            <a:r>
              <a:rPr lang="en-IN" dirty="0"/>
              <a:t>5GAA White Paper, 2019.</a:t>
            </a:r>
            <a:br>
              <a:rPr lang="en-IN" dirty="0"/>
            </a:br>
            <a:r>
              <a:rPr lang="en-IN" dirty="0"/>
              <a:t>(Explains 5G-based V2V/V2I ecosystem and real-world deployment</a:t>
            </a:r>
          </a:p>
        </p:txBody>
      </p:sp>
      <p:sp>
        <p:nvSpPr>
          <p:cNvPr id="4" name="TextBox 3">
            <a:extLst>
              <a:ext uri="{FF2B5EF4-FFF2-40B4-BE49-F238E27FC236}">
                <a16:creationId xmlns:a16="http://schemas.microsoft.com/office/drawing/2014/main" id="{BF62839C-6ED4-1591-C0A8-48CD623AB880}"/>
              </a:ext>
            </a:extLst>
          </p:cNvPr>
          <p:cNvSpPr txBox="1"/>
          <p:nvPr/>
        </p:nvSpPr>
        <p:spPr>
          <a:xfrm>
            <a:off x="437322" y="645420"/>
            <a:ext cx="3528391" cy="677108"/>
          </a:xfrm>
          <a:prstGeom prst="rect">
            <a:avLst/>
          </a:prstGeom>
          <a:noFill/>
        </p:spPr>
        <p:txBody>
          <a:bodyPr wrap="square" rtlCol="0">
            <a:spAutoFit/>
          </a:bodyPr>
          <a:lstStyle/>
          <a:p>
            <a:r>
              <a:rPr lang="en-IN" sz="2400" b="1" dirty="0"/>
              <a:t>References </a:t>
            </a:r>
          </a:p>
          <a:p>
            <a:endParaRPr lang="en-IN" dirty="0"/>
          </a:p>
        </p:txBody>
      </p:sp>
    </p:spTree>
    <p:extLst>
      <p:ext uri="{BB962C8B-B14F-4D97-AF65-F5344CB8AC3E}">
        <p14:creationId xmlns:p14="http://schemas.microsoft.com/office/powerpoint/2010/main" val="2018988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dirty="0">
                <a:solidFill>
                  <a:srgbClr val="007069"/>
                </a:solidFill>
                <a:latin typeface="Open Sans"/>
                <a:ea typeface="Open Sans"/>
                <a:cs typeface="Open Sans"/>
                <a:sym typeface="Open Sans"/>
              </a:rPr>
              <a:t>THANK </a:t>
            </a:r>
            <a:r>
              <a:rPr lang="en-US" sz="11500" b="1" i="0" u="none" strike="noStrike" cap="none" dirty="0">
                <a:solidFill>
                  <a:srgbClr val="A5A5A5"/>
                </a:solidFill>
                <a:latin typeface="Open Sans"/>
                <a:ea typeface="Open Sans"/>
                <a:cs typeface="Open Sans"/>
                <a:sym typeface="Open Sans"/>
              </a:rPr>
              <a:t>YOU</a:t>
            </a:r>
            <a:endParaRPr sz="1400" b="0" i="0" u="none" strike="noStrike" cap="none" dirty="0">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2936</TotalTime>
  <Words>1580</Words>
  <Application>Microsoft Office PowerPoint</Application>
  <PresentationFormat>Widescreen</PresentationFormat>
  <Paragraphs>196</Paragraphs>
  <Slides>24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Open Sans</vt:lpstr>
      <vt:lpstr>Verdana</vt:lpstr>
      <vt:lpstr>Calibri</vt:lpstr>
      <vt:lpstr>Poppins SemiBold</vt:lpstr>
      <vt:lpstr>Aharoni</vt:lpstr>
      <vt:lpstr>Arial</vt:lpstr>
      <vt:lpstr>Montserrat</vt:lpstr>
      <vt:lpstr>Montserrat Medium</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 – V2I Communication Using 5G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sai teja</cp:lastModifiedBy>
  <cp:revision>43</cp:revision>
  <dcterms:created xsi:type="dcterms:W3CDTF">2022-05-23T07:15:42Z</dcterms:created>
  <dcterms:modified xsi:type="dcterms:W3CDTF">2025-11-28T06:37:59Z</dcterms:modified>
</cp:coreProperties>
</file>